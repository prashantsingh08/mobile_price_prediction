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ADB4FF-C688-4CB6-AB50-3CB1A26110F5}" v="57" dt="2025-11-18T20:12:42.1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FF9A43-857E-493D-AF0D-6A291476B0C8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C949A1F-126C-4E05-B0F6-D4409442238F}">
      <dgm:prSet/>
      <dgm:spPr/>
      <dgm:t>
        <a:bodyPr/>
        <a:lstStyle/>
        <a:p>
          <a:r>
            <a:rPr lang="en-IN" b="1"/>
            <a:t>Slide title: Project Outline</a:t>
          </a:r>
          <a:endParaRPr lang="en-US"/>
        </a:p>
      </dgm:t>
    </dgm:pt>
    <dgm:pt modelId="{F06AC2E8-6C73-4A64-B9AB-849E7524EF4E}" type="parTrans" cxnId="{E4A2A737-968A-4A33-8620-08BD2CAAF6BE}">
      <dgm:prSet/>
      <dgm:spPr/>
      <dgm:t>
        <a:bodyPr/>
        <a:lstStyle/>
        <a:p>
          <a:endParaRPr lang="en-US"/>
        </a:p>
      </dgm:t>
    </dgm:pt>
    <dgm:pt modelId="{43A60C9F-9A1B-47B4-BC36-33BA5BF7B3FD}" type="sibTrans" cxnId="{E4A2A737-968A-4A33-8620-08BD2CAAF6BE}">
      <dgm:prSet/>
      <dgm:spPr/>
      <dgm:t>
        <a:bodyPr/>
        <a:lstStyle/>
        <a:p>
          <a:endParaRPr lang="en-US"/>
        </a:p>
      </dgm:t>
    </dgm:pt>
    <dgm:pt modelId="{245D86B1-60ED-4C57-B2D3-B0F3420D08A5}">
      <dgm:prSet/>
      <dgm:spPr/>
      <dgm:t>
        <a:bodyPr/>
        <a:lstStyle/>
        <a:p>
          <a:r>
            <a:rPr lang="en-IN" b="1"/>
            <a:t>Problem statement &amp; objective</a:t>
          </a:r>
          <a:endParaRPr lang="en-US"/>
        </a:p>
      </dgm:t>
    </dgm:pt>
    <dgm:pt modelId="{D9244B18-E5D9-48BB-BFDD-8DFB30DCBC96}" type="parTrans" cxnId="{2955B481-2AAC-431A-AE4A-6056FFCFA2FB}">
      <dgm:prSet/>
      <dgm:spPr/>
      <dgm:t>
        <a:bodyPr/>
        <a:lstStyle/>
        <a:p>
          <a:endParaRPr lang="en-US"/>
        </a:p>
      </dgm:t>
    </dgm:pt>
    <dgm:pt modelId="{6BFFE568-0410-4EE2-8287-D0522A88C722}" type="sibTrans" cxnId="{2955B481-2AAC-431A-AE4A-6056FFCFA2FB}">
      <dgm:prSet/>
      <dgm:spPr/>
      <dgm:t>
        <a:bodyPr/>
        <a:lstStyle/>
        <a:p>
          <a:endParaRPr lang="en-US"/>
        </a:p>
      </dgm:t>
    </dgm:pt>
    <dgm:pt modelId="{8BD47645-7B1D-446E-B1CE-88A094CE1461}">
      <dgm:prSet/>
      <dgm:spPr/>
      <dgm:t>
        <a:bodyPr/>
        <a:lstStyle/>
        <a:p>
          <a:r>
            <a:rPr lang="en-IN" b="1"/>
            <a:t>Data loading &amp; cleaning steps</a:t>
          </a:r>
          <a:endParaRPr lang="en-US"/>
        </a:p>
      </dgm:t>
    </dgm:pt>
    <dgm:pt modelId="{5F760377-5988-4B9C-AA38-710751A58367}" type="parTrans" cxnId="{CD9721D0-AFAB-4851-87D8-AF62802D760E}">
      <dgm:prSet/>
      <dgm:spPr/>
      <dgm:t>
        <a:bodyPr/>
        <a:lstStyle/>
        <a:p>
          <a:endParaRPr lang="en-US"/>
        </a:p>
      </dgm:t>
    </dgm:pt>
    <dgm:pt modelId="{5EE7A85B-52BB-48EF-8ACA-626F636A2429}" type="sibTrans" cxnId="{CD9721D0-AFAB-4851-87D8-AF62802D760E}">
      <dgm:prSet/>
      <dgm:spPr/>
      <dgm:t>
        <a:bodyPr/>
        <a:lstStyle/>
        <a:p>
          <a:endParaRPr lang="en-US"/>
        </a:p>
      </dgm:t>
    </dgm:pt>
    <dgm:pt modelId="{A1481134-2081-4FD6-8FDB-BA67D8D521ED}">
      <dgm:prSet/>
      <dgm:spPr/>
      <dgm:t>
        <a:bodyPr/>
        <a:lstStyle/>
        <a:p>
          <a:r>
            <a:rPr lang="en-IN" b="1"/>
            <a:t>Exploratory data analysis (uni/bi/multivariate)</a:t>
          </a:r>
          <a:endParaRPr lang="en-US"/>
        </a:p>
      </dgm:t>
    </dgm:pt>
    <dgm:pt modelId="{CA6A7FC3-589C-4DEF-ABFD-9DB4A8F58960}" type="parTrans" cxnId="{C6516515-D7C2-4C1F-A292-8B8A3A37929F}">
      <dgm:prSet/>
      <dgm:spPr/>
      <dgm:t>
        <a:bodyPr/>
        <a:lstStyle/>
        <a:p>
          <a:endParaRPr lang="en-US"/>
        </a:p>
      </dgm:t>
    </dgm:pt>
    <dgm:pt modelId="{5885F442-1DC5-4EE6-B318-4C0AB96F4EEC}" type="sibTrans" cxnId="{C6516515-D7C2-4C1F-A292-8B8A3A37929F}">
      <dgm:prSet/>
      <dgm:spPr/>
      <dgm:t>
        <a:bodyPr/>
        <a:lstStyle/>
        <a:p>
          <a:endParaRPr lang="en-US"/>
        </a:p>
      </dgm:t>
    </dgm:pt>
    <dgm:pt modelId="{49430F6E-E437-43BB-8737-31EBCD02324F}">
      <dgm:prSet/>
      <dgm:spPr/>
      <dgm:t>
        <a:bodyPr/>
        <a:lstStyle/>
        <a:p>
          <a:r>
            <a:rPr lang="en-IN" b="1"/>
            <a:t>Feature engineering &amp; encoding</a:t>
          </a:r>
          <a:endParaRPr lang="en-US"/>
        </a:p>
      </dgm:t>
    </dgm:pt>
    <dgm:pt modelId="{68D46725-BA6C-4E4A-B638-34C36AF88BE2}" type="parTrans" cxnId="{0C22C938-A3BD-41BF-BEF0-777E1CF432CE}">
      <dgm:prSet/>
      <dgm:spPr/>
      <dgm:t>
        <a:bodyPr/>
        <a:lstStyle/>
        <a:p>
          <a:endParaRPr lang="en-US"/>
        </a:p>
      </dgm:t>
    </dgm:pt>
    <dgm:pt modelId="{3C3E70DD-0C15-42D2-878D-E00A50615AE9}" type="sibTrans" cxnId="{0C22C938-A3BD-41BF-BEF0-777E1CF432CE}">
      <dgm:prSet/>
      <dgm:spPr/>
      <dgm:t>
        <a:bodyPr/>
        <a:lstStyle/>
        <a:p>
          <a:endParaRPr lang="en-US"/>
        </a:p>
      </dgm:t>
    </dgm:pt>
    <dgm:pt modelId="{3201FBF6-94DB-42F8-BC2A-4809E54ECBD1}">
      <dgm:prSet/>
      <dgm:spPr/>
      <dgm:t>
        <a:bodyPr/>
        <a:lstStyle/>
        <a:p>
          <a:r>
            <a:rPr lang="en-IN" b="1"/>
            <a:t>Model building and evaluation</a:t>
          </a:r>
          <a:endParaRPr lang="en-US"/>
        </a:p>
      </dgm:t>
    </dgm:pt>
    <dgm:pt modelId="{648C8A77-87D5-41D3-A6DC-D6D371B4EC36}" type="parTrans" cxnId="{5C453434-2099-463D-9769-5A0E1C9094F3}">
      <dgm:prSet/>
      <dgm:spPr/>
      <dgm:t>
        <a:bodyPr/>
        <a:lstStyle/>
        <a:p>
          <a:endParaRPr lang="en-US"/>
        </a:p>
      </dgm:t>
    </dgm:pt>
    <dgm:pt modelId="{AA22D49F-2BC0-48C9-8854-ECA167B5F1A2}" type="sibTrans" cxnId="{5C453434-2099-463D-9769-5A0E1C9094F3}">
      <dgm:prSet/>
      <dgm:spPr/>
      <dgm:t>
        <a:bodyPr/>
        <a:lstStyle/>
        <a:p>
          <a:endParaRPr lang="en-US"/>
        </a:p>
      </dgm:t>
    </dgm:pt>
    <dgm:pt modelId="{53AAD7C8-D1A2-4BEE-BC0C-027CF3E50EF2}">
      <dgm:prSet/>
      <dgm:spPr/>
      <dgm:t>
        <a:bodyPr/>
        <a:lstStyle/>
        <a:p>
          <a:r>
            <a:rPr lang="en-IN" b="1"/>
            <a:t>Feature importance &amp; recommendations</a:t>
          </a:r>
          <a:endParaRPr lang="en-US"/>
        </a:p>
      </dgm:t>
    </dgm:pt>
    <dgm:pt modelId="{3B20E821-35BA-4C16-8722-CE64C9861200}" type="parTrans" cxnId="{12350301-6219-4300-AFC8-E634BF84CFDC}">
      <dgm:prSet/>
      <dgm:spPr/>
      <dgm:t>
        <a:bodyPr/>
        <a:lstStyle/>
        <a:p>
          <a:endParaRPr lang="en-US"/>
        </a:p>
      </dgm:t>
    </dgm:pt>
    <dgm:pt modelId="{7F07606E-5D2B-42D1-A2C9-AD0251328D2F}" type="sibTrans" cxnId="{12350301-6219-4300-AFC8-E634BF84CFDC}">
      <dgm:prSet/>
      <dgm:spPr/>
      <dgm:t>
        <a:bodyPr/>
        <a:lstStyle/>
        <a:p>
          <a:endParaRPr lang="en-US"/>
        </a:p>
      </dgm:t>
    </dgm:pt>
    <dgm:pt modelId="{82E45D34-281E-49C7-A6A5-190003971C02}" type="pres">
      <dgm:prSet presAssocID="{76FF9A43-857E-493D-AF0D-6A291476B0C8}" presName="vert0" presStyleCnt="0">
        <dgm:presLayoutVars>
          <dgm:dir/>
          <dgm:animOne val="branch"/>
          <dgm:animLvl val="lvl"/>
        </dgm:presLayoutVars>
      </dgm:prSet>
      <dgm:spPr/>
    </dgm:pt>
    <dgm:pt modelId="{BCB8AE24-F2C9-4C72-9BFF-E42FA4A4F55F}" type="pres">
      <dgm:prSet presAssocID="{8C949A1F-126C-4E05-B0F6-D4409442238F}" presName="thickLine" presStyleLbl="alignNode1" presStyleIdx="0" presStyleCnt="7"/>
      <dgm:spPr/>
    </dgm:pt>
    <dgm:pt modelId="{65C581BE-BB4A-47E8-A8B5-86C8361CCC88}" type="pres">
      <dgm:prSet presAssocID="{8C949A1F-126C-4E05-B0F6-D4409442238F}" presName="horz1" presStyleCnt="0"/>
      <dgm:spPr/>
    </dgm:pt>
    <dgm:pt modelId="{140E4410-F21E-4C8B-A35E-AAADC334862E}" type="pres">
      <dgm:prSet presAssocID="{8C949A1F-126C-4E05-B0F6-D4409442238F}" presName="tx1" presStyleLbl="revTx" presStyleIdx="0" presStyleCnt="7"/>
      <dgm:spPr/>
    </dgm:pt>
    <dgm:pt modelId="{989C1EF2-5175-46B8-B5A3-DD17D01C5684}" type="pres">
      <dgm:prSet presAssocID="{8C949A1F-126C-4E05-B0F6-D4409442238F}" presName="vert1" presStyleCnt="0"/>
      <dgm:spPr/>
    </dgm:pt>
    <dgm:pt modelId="{3D7EB949-D87B-4795-9685-80AAD66BEF45}" type="pres">
      <dgm:prSet presAssocID="{245D86B1-60ED-4C57-B2D3-B0F3420D08A5}" presName="thickLine" presStyleLbl="alignNode1" presStyleIdx="1" presStyleCnt="7"/>
      <dgm:spPr/>
    </dgm:pt>
    <dgm:pt modelId="{56D8789B-06A5-46F2-BD81-992279870789}" type="pres">
      <dgm:prSet presAssocID="{245D86B1-60ED-4C57-B2D3-B0F3420D08A5}" presName="horz1" presStyleCnt="0"/>
      <dgm:spPr/>
    </dgm:pt>
    <dgm:pt modelId="{AC859B8F-2F2C-4BEF-8419-5DDFF5016785}" type="pres">
      <dgm:prSet presAssocID="{245D86B1-60ED-4C57-B2D3-B0F3420D08A5}" presName="tx1" presStyleLbl="revTx" presStyleIdx="1" presStyleCnt="7"/>
      <dgm:spPr/>
    </dgm:pt>
    <dgm:pt modelId="{F8131FE1-D0CD-4ECA-8AC0-5724F488DB3A}" type="pres">
      <dgm:prSet presAssocID="{245D86B1-60ED-4C57-B2D3-B0F3420D08A5}" presName="vert1" presStyleCnt="0"/>
      <dgm:spPr/>
    </dgm:pt>
    <dgm:pt modelId="{874F41B4-56DB-4D8A-B500-1CE7E512EAAA}" type="pres">
      <dgm:prSet presAssocID="{8BD47645-7B1D-446E-B1CE-88A094CE1461}" presName="thickLine" presStyleLbl="alignNode1" presStyleIdx="2" presStyleCnt="7"/>
      <dgm:spPr/>
    </dgm:pt>
    <dgm:pt modelId="{3127312D-E109-4ACC-89EB-F7D633029AC0}" type="pres">
      <dgm:prSet presAssocID="{8BD47645-7B1D-446E-B1CE-88A094CE1461}" presName="horz1" presStyleCnt="0"/>
      <dgm:spPr/>
    </dgm:pt>
    <dgm:pt modelId="{D0BA10CB-53C5-4515-AAEB-E6655182FA14}" type="pres">
      <dgm:prSet presAssocID="{8BD47645-7B1D-446E-B1CE-88A094CE1461}" presName="tx1" presStyleLbl="revTx" presStyleIdx="2" presStyleCnt="7"/>
      <dgm:spPr/>
    </dgm:pt>
    <dgm:pt modelId="{8C991812-95C8-4AE5-9549-FD54A735DB49}" type="pres">
      <dgm:prSet presAssocID="{8BD47645-7B1D-446E-B1CE-88A094CE1461}" presName="vert1" presStyleCnt="0"/>
      <dgm:spPr/>
    </dgm:pt>
    <dgm:pt modelId="{76008E70-5EA8-4AB5-B36B-98CCE0740E4F}" type="pres">
      <dgm:prSet presAssocID="{A1481134-2081-4FD6-8FDB-BA67D8D521ED}" presName="thickLine" presStyleLbl="alignNode1" presStyleIdx="3" presStyleCnt="7"/>
      <dgm:spPr/>
    </dgm:pt>
    <dgm:pt modelId="{198C8061-443F-44A5-81A1-64E9055E08FA}" type="pres">
      <dgm:prSet presAssocID="{A1481134-2081-4FD6-8FDB-BA67D8D521ED}" presName="horz1" presStyleCnt="0"/>
      <dgm:spPr/>
    </dgm:pt>
    <dgm:pt modelId="{0A24C6BD-9093-409D-8B85-30B634F28F44}" type="pres">
      <dgm:prSet presAssocID="{A1481134-2081-4FD6-8FDB-BA67D8D521ED}" presName="tx1" presStyleLbl="revTx" presStyleIdx="3" presStyleCnt="7"/>
      <dgm:spPr/>
    </dgm:pt>
    <dgm:pt modelId="{587ACAEE-AFDB-406D-ADFB-AACEE940B6D8}" type="pres">
      <dgm:prSet presAssocID="{A1481134-2081-4FD6-8FDB-BA67D8D521ED}" presName="vert1" presStyleCnt="0"/>
      <dgm:spPr/>
    </dgm:pt>
    <dgm:pt modelId="{51052B7C-A112-4D5D-86DF-AFCE72E55D8E}" type="pres">
      <dgm:prSet presAssocID="{49430F6E-E437-43BB-8737-31EBCD02324F}" presName="thickLine" presStyleLbl="alignNode1" presStyleIdx="4" presStyleCnt="7"/>
      <dgm:spPr/>
    </dgm:pt>
    <dgm:pt modelId="{94882B73-5C67-4892-B622-0AA88117975A}" type="pres">
      <dgm:prSet presAssocID="{49430F6E-E437-43BB-8737-31EBCD02324F}" presName="horz1" presStyleCnt="0"/>
      <dgm:spPr/>
    </dgm:pt>
    <dgm:pt modelId="{66E376C9-994C-4FBA-8F7C-6F6D34CCC4F3}" type="pres">
      <dgm:prSet presAssocID="{49430F6E-E437-43BB-8737-31EBCD02324F}" presName="tx1" presStyleLbl="revTx" presStyleIdx="4" presStyleCnt="7"/>
      <dgm:spPr/>
    </dgm:pt>
    <dgm:pt modelId="{053BC2C0-C956-480B-906C-D5331E085A5F}" type="pres">
      <dgm:prSet presAssocID="{49430F6E-E437-43BB-8737-31EBCD02324F}" presName="vert1" presStyleCnt="0"/>
      <dgm:spPr/>
    </dgm:pt>
    <dgm:pt modelId="{409B3A48-A282-4B2E-88D4-2A9B2FF2645C}" type="pres">
      <dgm:prSet presAssocID="{3201FBF6-94DB-42F8-BC2A-4809E54ECBD1}" presName="thickLine" presStyleLbl="alignNode1" presStyleIdx="5" presStyleCnt="7"/>
      <dgm:spPr/>
    </dgm:pt>
    <dgm:pt modelId="{09E308C3-C8BC-43C9-B820-00E3805D4D58}" type="pres">
      <dgm:prSet presAssocID="{3201FBF6-94DB-42F8-BC2A-4809E54ECBD1}" presName="horz1" presStyleCnt="0"/>
      <dgm:spPr/>
    </dgm:pt>
    <dgm:pt modelId="{666CABE1-2C8A-4E71-A5D9-8BBC741EB36E}" type="pres">
      <dgm:prSet presAssocID="{3201FBF6-94DB-42F8-BC2A-4809E54ECBD1}" presName="tx1" presStyleLbl="revTx" presStyleIdx="5" presStyleCnt="7"/>
      <dgm:spPr/>
    </dgm:pt>
    <dgm:pt modelId="{AFFA1EB2-66E4-4CB4-82A0-9EDCB153256A}" type="pres">
      <dgm:prSet presAssocID="{3201FBF6-94DB-42F8-BC2A-4809E54ECBD1}" presName="vert1" presStyleCnt="0"/>
      <dgm:spPr/>
    </dgm:pt>
    <dgm:pt modelId="{5A67FF0F-283C-4E89-A7BF-AE3DF299D60F}" type="pres">
      <dgm:prSet presAssocID="{53AAD7C8-D1A2-4BEE-BC0C-027CF3E50EF2}" presName="thickLine" presStyleLbl="alignNode1" presStyleIdx="6" presStyleCnt="7"/>
      <dgm:spPr/>
    </dgm:pt>
    <dgm:pt modelId="{4F5AAFE4-C1F1-41C5-A250-E7BEC97DBA72}" type="pres">
      <dgm:prSet presAssocID="{53AAD7C8-D1A2-4BEE-BC0C-027CF3E50EF2}" presName="horz1" presStyleCnt="0"/>
      <dgm:spPr/>
    </dgm:pt>
    <dgm:pt modelId="{571DAA21-97F7-42E8-8D7E-0BD7795F7163}" type="pres">
      <dgm:prSet presAssocID="{53AAD7C8-D1A2-4BEE-BC0C-027CF3E50EF2}" presName="tx1" presStyleLbl="revTx" presStyleIdx="6" presStyleCnt="7"/>
      <dgm:spPr/>
    </dgm:pt>
    <dgm:pt modelId="{CA10F013-25D4-4D43-B817-4A74F95DC001}" type="pres">
      <dgm:prSet presAssocID="{53AAD7C8-D1A2-4BEE-BC0C-027CF3E50EF2}" presName="vert1" presStyleCnt="0"/>
      <dgm:spPr/>
    </dgm:pt>
  </dgm:ptLst>
  <dgm:cxnLst>
    <dgm:cxn modelId="{12350301-6219-4300-AFC8-E634BF84CFDC}" srcId="{76FF9A43-857E-493D-AF0D-6A291476B0C8}" destId="{53AAD7C8-D1A2-4BEE-BC0C-027CF3E50EF2}" srcOrd="6" destOrd="0" parTransId="{3B20E821-35BA-4C16-8722-CE64C9861200}" sibTransId="{7F07606E-5D2B-42D1-A2C9-AD0251328D2F}"/>
    <dgm:cxn modelId="{C6516515-D7C2-4C1F-A292-8B8A3A37929F}" srcId="{76FF9A43-857E-493D-AF0D-6A291476B0C8}" destId="{A1481134-2081-4FD6-8FDB-BA67D8D521ED}" srcOrd="3" destOrd="0" parTransId="{CA6A7FC3-589C-4DEF-ABFD-9DB4A8F58960}" sibTransId="{5885F442-1DC5-4EE6-B318-4C0AB96F4EEC}"/>
    <dgm:cxn modelId="{91CD071C-8F67-4FA7-BB72-5FB1F31FC7AD}" type="presOf" srcId="{49430F6E-E437-43BB-8737-31EBCD02324F}" destId="{66E376C9-994C-4FBA-8F7C-6F6D34CCC4F3}" srcOrd="0" destOrd="0" presId="urn:microsoft.com/office/officeart/2008/layout/LinedList"/>
    <dgm:cxn modelId="{5C453434-2099-463D-9769-5A0E1C9094F3}" srcId="{76FF9A43-857E-493D-AF0D-6A291476B0C8}" destId="{3201FBF6-94DB-42F8-BC2A-4809E54ECBD1}" srcOrd="5" destOrd="0" parTransId="{648C8A77-87D5-41D3-A6DC-D6D371B4EC36}" sibTransId="{AA22D49F-2BC0-48C9-8854-ECA167B5F1A2}"/>
    <dgm:cxn modelId="{E4A2A737-968A-4A33-8620-08BD2CAAF6BE}" srcId="{76FF9A43-857E-493D-AF0D-6A291476B0C8}" destId="{8C949A1F-126C-4E05-B0F6-D4409442238F}" srcOrd="0" destOrd="0" parTransId="{F06AC2E8-6C73-4A64-B9AB-849E7524EF4E}" sibTransId="{43A60C9F-9A1B-47B4-BC36-33BA5BF7B3FD}"/>
    <dgm:cxn modelId="{0C22C938-A3BD-41BF-BEF0-777E1CF432CE}" srcId="{76FF9A43-857E-493D-AF0D-6A291476B0C8}" destId="{49430F6E-E437-43BB-8737-31EBCD02324F}" srcOrd="4" destOrd="0" parTransId="{68D46725-BA6C-4E4A-B638-34C36AF88BE2}" sibTransId="{3C3E70DD-0C15-42D2-878D-E00A50615AE9}"/>
    <dgm:cxn modelId="{56E8123E-8D69-4C1C-9B77-94B193A187B0}" type="presOf" srcId="{245D86B1-60ED-4C57-B2D3-B0F3420D08A5}" destId="{AC859B8F-2F2C-4BEF-8419-5DDFF5016785}" srcOrd="0" destOrd="0" presId="urn:microsoft.com/office/officeart/2008/layout/LinedList"/>
    <dgm:cxn modelId="{026AD143-5680-4E6F-BFE8-69F91A984013}" type="presOf" srcId="{A1481134-2081-4FD6-8FDB-BA67D8D521ED}" destId="{0A24C6BD-9093-409D-8B85-30B634F28F44}" srcOrd="0" destOrd="0" presId="urn:microsoft.com/office/officeart/2008/layout/LinedList"/>
    <dgm:cxn modelId="{9F20EC51-419B-4000-84DD-3E66C80FD6D4}" type="presOf" srcId="{76FF9A43-857E-493D-AF0D-6A291476B0C8}" destId="{82E45D34-281E-49C7-A6A5-190003971C02}" srcOrd="0" destOrd="0" presId="urn:microsoft.com/office/officeart/2008/layout/LinedList"/>
    <dgm:cxn modelId="{2955B481-2AAC-431A-AE4A-6056FFCFA2FB}" srcId="{76FF9A43-857E-493D-AF0D-6A291476B0C8}" destId="{245D86B1-60ED-4C57-B2D3-B0F3420D08A5}" srcOrd="1" destOrd="0" parTransId="{D9244B18-E5D9-48BB-BFDD-8DFB30DCBC96}" sibTransId="{6BFFE568-0410-4EE2-8287-D0522A88C722}"/>
    <dgm:cxn modelId="{53DEED94-4DC9-46DA-B416-7A1969D2554C}" type="presOf" srcId="{53AAD7C8-D1A2-4BEE-BC0C-027CF3E50EF2}" destId="{571DAA21-97F7-42E8-8D7E-0BD7795F7163}" srcOrd="0" destOrd="0" presId="urn:microsoft.com/office/officeart/2008/layout/LinedList"/>
    <dgm:cxn modelId="{C7B0EF9D-872F-40EA-8C8D-02BEC5A37782}" type="presOf" srcId="{8BD47645-7B1D-446E-B1CE-88A094CE1461}" destId="{D0BA10CB-53C5-4515-AAEB-E6655182FA14}" srcOrd="0" destOrd="0" presId="urn:microsoft.com/office/officeart/2008/layout/LinedList"/>
    <dgm:cxn modelId="{AF5A07A5-6268-4D64-8C51-E490D8CCDB6E}" type="presOf" srcId="{8C949A1F-126C-4E05-B0F6-D4409442238F}" destId="{140E4410-F21E-4C8B-A35E-AAADC334862E}" srcOrd="0" destOrd="0" presId="urn:microsoft.com/office/officeart/2008/layout/LinedList"/>
    <dgm:cxn modelId="{CD9721D0-AFAB-4851-87D8-AF62802D760E}" srcId="{76FF9A43-857E-493D-AF0D-6A291476B0C8}" destId="{8BD47645-7B1D-446E-B1CE-88A094CE1461}" srcOrd="2" destOrd="0" parTransId="{5F760377-5988-4B9C-AA38-710751A58367}" sibTransId="{5EE7A85B-52BB-48EF-8ACA-626F636A2429}"/>
    <dgm:cxn modelId="{96B765D6-C99F-45C7-860D-5A8AE18380D1}" type="presOf" srcId="{3201FBF6-94DB-42F8-BC2A-4809E54ECBD1}" destId="{666CABE1-2C8A-4E71-A5D9-8BBC741EB36E}" srcOrd="0" destOrd="0" presId="urn:microsoft.com/office/officeart/2008/layout/LinedList"/>
    <dgm:cxn modelId="{83922FAA-C61C-49F3-9E4E-C37A8F74D0CC}" type="presParOf" srcId="{82E45D34-281E-49C7-A6A5-190003971C02}" destId="{BCB8AE24-F2C9-4C72-9BFF-E42FA4A4F55F}" srcOrd="0" destOrd="0" presId="urn:microsoft.com/office/officeart/2008/layout/LinedList"/>
    <dgm:cxn modelId="{7E4FA268-AB64-4733-ABDF-5FDE90A8CE99}" type="presParOf" srcId="{82E45D34-281E-49C7-A6A5-190003971C02}" destId="{65C581BE-BB4A-47E8-A8B5-86C8361CCC88}" srcOrd="1" destOrd="0" presId="urn:microsoft.com/office/officeart/2008/layout/LinedList"/>
    <dgm:cxn modelId="{51F24D6A-0378-4812-9187-B738366A6EE9}" type="presParOf" srcId="{65C581BE-BB4A-47E8-A8B5-86C8361CCC88}" destId="{140E4410-F21E-4C8B-A35E-AAADC334862E}" srcOrd="0" destOrd="0" presId="urn:microsoft.com/office/officeart/2008/layout/LinedList"/>
    <dgm:cxn modelId="{60043F50-8F26-4290-89C8-08ED921DC219}" type="presParOf" srcId="{65C581BE-BB4A-47E8-A8B5-86C8361CCC88}" destId="{989C1EF2-5175-46B8-B5A3-DD17D01C5684}" srcOrd="1" destOrd="0" presId="urn:microsoft.com/office/officeart/2008/layout/LinedList"/>
    <dgm:cxn modelId="{A3A18DF8-F196-45A7-A77A-273B78AB3B05}" type="presParOf" srcId="{82E45D34-281E-49C7-A6A5-190003971C02}" destId="{3D7EB949-D87B-4795-9685-80AAD66BEF45}" srcOrd="2" destOrd="0" presId="urn:microsoft.com/office/officeart/2008/layout/LinedList"/>
    <dgm:cxn modelId="{9A321927-5D45-4532-AB66-99E4354D47C6}" type="presParOf" srcId="{82E45D34-281E-49C7-A6A5-190003971C02}" destId="{56D8789B-06A5-46F2-BD81-992279870789}" srcOrd="3" destOrd="0" presId="urn:microsoft.com/office/officeart/2008/layout/LinedList"/>
    <dgm:cxn modelId="{984E832E-DB3C-44C0-9DC5-E88B6C1A04C8}" type="presParOf" srcId="{56D8789B-06A5-46F2-BD81-992279870789}" destId="{AC859B8F-2F2C-4BEF-8419-5DDFF5016785}" srcOrd="0" destOrd="0" presId="urn:microsoft.com/office/officeart/2008/layout/LinedList"/>
    <dgm:cxn modelId="{08B4A5E4-7AE3-4E05-BAA6-191F15CE897D}" type="presParOf" srcId="{56D8789B-06A5-46F2-BD81-992279870789}" destId="{F8131FE1-D0CD-4ECA-8AC0-5724F488DB3A}" srcOrd="1" destOrd="0" presId="urn:microsoft.com/office/officeart/2008/layout/LinedList"/>
    <dgm:cxn modelId="{16041315-F93D-4146-8763-10627E3321C4}" type="presParOf" srcId="{82E45D34-281E-49C7-A6A5-190003971C02}" destId="{874F41B4-56DB-4D8A-B500-1CE7E512EAAA}" srcOrd="4" destOrd="0" presId="urn:microsoft.com/office/officeart/2008/layout/LinedList"/>
    <dgm:cxn modelId="{92749DB1-FDAA-44AB-B0C8-0281B262A090}" type="presParOf" srcId="{82E45D34-281E-49C7-A6A5-190003971C02}" destId="{3127312D-E109-4ACC-89EB-F7D633029AC0}" srcOrd="5" destOrd="0" presId="urn:microsoft.com/office/officeart/2008/layout/LinedList"/>
    <dgm:cxn modelId="{2C9AAD34-E25F-4C1E-A559-74263B0DE619}" type="presParOf" srcId="{3127312D-E109-4ACC-89EB-F7D633029AC0}" destId="{D0BA10CB-53C5-4515-AAEB-E6655182FA14}" srcOrd="0" destOrd="0" presId="urn:microsoft.com/office/officeart/2008/layout/LinedList"/>
    <dgm:cxn modelId="{BA778B1D-3051-419E-976D-3DAFF63A1A55}" type="presParOf" srcId="{3127312D-E109-4ACC-89EB-F7D633029AC0}" destId="{8C991812-95C8-4AE5-9549-FD54A735DB49}" srcOrd="1" destOrd="0" presId="urn:microsoft.com/office/officeart/2008/layout/LinedList"/>
    <dgm:cxn modelId="{E7F19FA5-2DED-4CAA-A2B2-E3B315483E9D}" type="presParOf" srcId="{82E45D34-281E-49C7-A6A5-190003971C02}" destId="{76008E70-5EA8-4AB5-B36B-98CCE0740E4F}" srcOrd="6" destOrd="0" presId="urn:microsoft.com/office/officeart/2008/layout/LinedList"/>
    <dgm:cxn modelId="{100D5AEC-8F71-42A6-998A-3B7E6E07FE7B}" type="presParOf" srcId="{82E45D34-281E-49C7-A6A5-190003971C02}" destId="{198C8061-443F-44A5-81A1-64E9055E08FA}" srcOrd="7" destOrd="0" presId="urn:microsoft.com/office/officeart/2008/layout/LinedList"/>
    <dgm:cxn modelId="{911CA1CF-55A2-43B7-ADC9-08AFB75563E7}" type="presParOf" srcId="{198C8061-443F-44A5-81A1-64E9055E08FA}" destId="{0A24C6BD-9093-409D-8B85-30B634F28F44}" srcOrd="0" destOrd="0" presId="urn:microsoft.com/office/officeart/2008/layout/LinedList"/>
    <dgm:cxn modelId="{FB794797-2475-41A4-9B89-08BBE1F34B88}" type="presParOf" srcId="{198C8061-443F-44A5-81A1-64E9055E08FA}" destId="{587ACAEE-AFDB-406D-ADFB-AACEE940B6D8}" srcOrd="1" destOrd="0" presId="urn:microsoft.com/office/officeart/2008/layout/LinedList"/>
    <dgm:cxn modelId="{5DB6D42C-CCC7-4E7D-862D-1FCEB299E270}" type="presParOf" srcId="{82E45D34-281E-49C7-A6A5-190003971C02}" destId="{51052B7C-A112-4D5D-86DF-AFCE72E55D8E}" srcOrd="8" destOrd="0" presId="urn:microsoft.com/office/officeart/2008/layout/LinedList"/>
    <dgm:cxn modelId="{801E8EA0-9B92-47CC-8A4C-36BDCC180EB5}" type="presParOf" srcId="{82E45D34-281E-49C7-A6A5-190003971C02}" destId="{94882B73-5C67-4892-B622-0AA88117975A}" srcOrd="9" destOrd="0" presId="urn:microsoft.com/office/officeart/2008/layout/LinedList"/>
    <dgm:cxn modelId="{95B44F97-83C1-4760-BEC5-67CD5DD89706}" type="presParOf" srcId="{94882B73-5C67-4892-B622-0AA88117975A}" destId="{66E376C9-994C-4FBA-8F7C-6F6D34CCC4F3}" srcOrd="0" destOrd="0" presId="urn:microsoft.com/office/officeart/2008/layout/LinedList"/>
    <dgm:cxn modelId="{311E65F3-F504-4E73-9219-D0648506ADB5}" type="presParOf" srcId="{94882B73-5C67-4892-B622-0AA88117975A}" destId="{053BC2C0-C956-480B-906C-D5331E085A5F}" srcOrd="1" destOrd="0" presId="urn:microsoft.com/office/officeart/2008/layout/LinedList"/>
    <dgm:cxn modelId="{7A78093B-6CAC-4CED-9F83-E8ACBCF6E421}" type="presParOf" srcId="{82E45D34-281E-49C7-A6A5-190003971C02}" destId="{409B3A48-A282-4B2E-88D4-2A9B2FF2645C}" srcOrd="10" destOrd="0" presId="urn:microsoft.com/office/officeart/2008/layout/LinedList"/>
    <dgm:cxn modelId="{4500F9EA-0D8B-4450-B846-F47DE5C9F44C}" type="presParOf" srcId="{82E45D34-281E-49C7-A6A5-190003971C02}" destId="{09E308C3-C8BC-43C9-B820-00E3805D4D58}" srcOrd="11" destOrd="0" presId="urn:microsoft.com/office/officeart/2008/layout/LinedList"/>
    <dgm:cxn modelId="{A0B3CDDF-A109-440A-995C-7C8E4A05912A}" type="presParOf" srcId="{09E308C3-C8BC-43C9-B820-00E3805D4D58}" destId="{666CABE1-2C8A-4E71-A5D9-8BBC741EB36E}" srcOrd="0" destOrd="0" presId="urn:microsoft.com/office/officeart/2008/layout/LinedList"/>
    <dgm:cxn modelId="{431BEC2E-4BEB-4204-A606-C0B671975858}" type="presParOf" srcId="{09E308C3-C8BC-43C9-B820-00E3805D4D58}" destId="{AFFA1EB2-66E4-4CB4-82A0-9EDCB153256A}" srcOrd="1" destOrd="0" presId="urn:microsoft.com/office/officeart/2008/layout/LinedList"/>
    <dgm:cxn modelId="{2FF32DD0-A41A-45F7-80B0-BC10BC7988C9}" type="presParOf" srcId="{82E45D34-281E-49C7-A6A5-190003971C02}" destId="{5A67FF0F-283C-4E89-A7BF-AE3DF299D60F}" srcOrd="12" destOrd="0" presId="urn:microsoft.com/office/officeart/2008/layout/LinedList"/>
    <dgm:cxn modelId="{0AF7A891-DFE3-4361-91DD-34EF98D0DF1E}" type="presParOf" srcId="{82E45D34-281E-49C7-A6A5-190003971C02}" destId="{4F5AAFE4-C1F1-41C5-A250-E7BEC97DBA72}" srcOrd="13" destOrd="0" presId="urn:microsoft.com/office/officeart/2008/layout/LinedList"/>
    <dgm:cxn modelId="{41A3AC06-1D2C-4EA7-8A0D-498EAB894167}" type="presParOf" srcId="{4F5AAFE4-C1F1-41C5-A250-E7BEC97DBA72}" destId="{571DAA21-97F7-42E8-8D7E-0BD7795F7163}" srcOrd="0" destOrd="0" presId="urn:microsoft.com/office/officeart/2008/layout/LinedList"/>
    <dgm:cxn modelId="{509B3652-5ACA-453A-BDF7-E4A38B7BC199}" type="presParOf" srcId="{4F5AAFE4-C1F1-41C5-A250-E7BEC97DBA72}" destId="{CA10F013-25D4-4D43-B817-4A74F95DC00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86B6F01-8984-41C2-BF84-B7C5759E63C5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DE95C01-1480-4930-892B-B6702C8E57F5}">
      <dgm:prSet/>
      <dgm:spPr/>
      <dgm:t>
        <a:bodyPr/>
        <a:lstStyle/>
        <a:p>
          <a:r>
            <a:rPr lang="en-US" b="1"/>
            <a:t>Slide title: Problem &amp; Objective</a:t>
          </a:r>
          <a:br>
            <a:rPr lang="en-US" b="1"/>
          </a:br>
          <a:r>
            <a:rPr lang="en-US" b="1"/>
            <a:t>Content:</a:t>
          </a:r>
          <a:endParaRPr lang="en-US"/>
        </a:p>
      </dgm:t>
    </dgm:pt>
    <dgm:pt modelId="{B7485C61-573A-4539-8E44-79840BDBB2E1}" type="parTrans" cxnId="{0587BB12-7AEC-4A49-8259-83CCA6E32044}">
      <dgm:prSet/>
      <dgm:spPr/>
      <dgm:t>
        <a:bodyPr/>
        <a:lstStyle/>
        <a:p>
          <a:endParaRPr lang="en-US"/>
        </a:p>
      </dgm:t>
    </dgm:pt>
    <dgm:pt modelId="{D8205EF7-DE67-4769-BAF3-F23A2A459037}" type="sibTrans" cxnId="{0587BB12-7AEC-4A49-8259-83CCA6E32044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57120F4C-C77B-42B0-847B-7463D754B0A9}">
      <dgm:prSet/>
      <dgm:spPr/>
      <dgm:t>
        <a:bodyPr/>
        <a:lstStyle/>
        <a:p>
          <a:r>
            <a:rPr lang="en-US" b="1"/>
            <a:t>Problem: Predict the retail price of mobile phones using device specifications.</a:t>
          </a:r>
          <a:endParaRPr lang="en-US"/>
        </a:p>
      </dgm:t>
    </dgm:pt>
    <dgm:pt modelId="{A2F61F1C-6232-48E0-89FA-8340C9BA47CE}" type="parTrans" cxnId="{FE7B486B-1EE4-4F51-832A-A0AA6782390F}">
      <dgm:prSet/>
      <dgm:spPr/>
      <dgm:t>
        <a:bodyPr/>
        <a:lstStyle/>
        <a:p>
          <a:endParaRPr lang="en-US"/>
        </a:p>
      </dgm:t>
    </dgm:pt>
    <dgm:pt modelId="{575AF3D4-7693-46E1-8608-FDE08F77A903}" type="sibTrans" cxnId="{FE7B486B-1EE4-4F51-832A-A0AA6782390F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F6BD09C4-17DF-47D3-AFA3-F52A8ED6A503}">
      <dgm:prSet/>
      <dgm:spPr/>
      <dgm:t>
        <a:bodyPr/>
        <a:lstStyle/>
        <a:p>
          <a:r>
            <a:rPr lang="en-US" b="1"/>
            <a:t>Objective: Build an accurate regression model and identify the features that most strongly influence price to guide pricing and marketing decisions.</a:t>
          </a:r>
          <a:endParaRPr lang="en-US"/>
        </a:p>
      </dgm:t>
    </dgm:pt>
    <dgm:pt modelId="{25F2D755-1030-481F-8E10-BE642655AA16}" type="parTrans" cxnId="{34C73567-5341-412F-AAE8-60F056E9EEC2}">
      <dgm:prSet/>
      <dgm:spPr/>
      <dgm:t>
        <a:bodyPr/>
        <a:lstStyle/>
        <a:p>
          <a:endParaRPr lang="en-US"/>
        </a:p>
      </dgm:t>
    </dgm:pt>
    <dgm:pt modelId="{C8A74419-5FAA-49A6-A7A1-5D248C1D1339}" type="sibTrans" cxnId="{34C73567-5341-412F-AAE8-60F056E9EEC2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DE6E09D6-83D7-4E4B-88A3-4B9CE0FC0B6D}" type="pres">
      <dgm:prSet presAssocID="{586B6F01-8984-41C2-BF84-B7C5759E63C5}" presName="Name0" presStyleCnt="0">
        <dgm:presLayoutVars>
          <dgm:animLvl val="lvl"/>
          <dgm:resizeHandles val="exact"/>
        </dgm:presLayoutVars>
      </dgm:prSet>
      <dgm:spPr/>
    </dgm:pt>
    <dgm:pt modelId="{844E0C7B-BC93-451C-9EB9-1839D0BB00B8}" type="pres">
      <dgm:prSet presAssocID="{EDE95C01-1480-4930-892B-B6702C8E57F5}" presName="compositeNode" presStyleCnt="0">
        <dgm:presLayoutVars>
          <dgm:bulletEnabled val="1"/>
        </dgm:presLayoutVars>
      </dgm:prSet>
      <dgm:spPr/>
    </dgm:pt>
    <dgm:pt modelId="{2A3EF2FE-D83D-478B-B1EE-36DCFF651245}" type="pres">
      <dgm:prSet presAssocID="{EDE95C01-1480-4930-892B-B6702C8E57F5}" presName="bgRect" presStyleLbl="alignNode1" presStyleIdx="0" presStyleCnt="3"/>
      <dgm:spPr/>
    </dgm:pt>
    <dgm:pt modelId="{2800AFBA-9185-47D9-B9B3-98A6A9473E44}" type="pres">
      <dgm:prSet presAssocID="{D8205EF7-DE67-4769-BAF3-F23A2A459037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D0434ECC-33F4-4301-B0D6-1D9595960353}" type="pres">
      <dgm:prSet presAssocID="{EDE95C01-1480-4930-892B-B6702C8E57F5}" presName="nodeRect" presStyleLbl="alignNode1" presStyleIdx="0" presStyleCnt="3">
        <dgm:presLayoutVars>
          <dgm:bulletEnabled val="1"/>
        </dgm:presLayoutVars>
      </dgm:prSet>
      <dgm:spPr/>
    </dgm:pt>
    <dgm:pt modelId="{91267EF5-8252-4AB0-BCB8-CB97185A00B1}" type="pres">
      <dgm:prSet presAssocID="{D8205EF7-DE67-4769-BAF3-F23A2A459037}" presName="sibTrans" presStyleCnt="0"/>
      <dgm:spPr/>
    </dgm:pt>
    <dgm:pt modelId="{4E746D66-9794-4053-BC05-27835C204659}" type="pres">
      <dgm:prSet presAssocID="{57120F4C-C77B-42B0-847B-7463D754B0A9}" presName="compositeNode" presStyleCnt="0">
        <dgm:presLayoutVars>
          <dgm:bulletEnabled val="1"/>
        </dgm:presLayoutVars>
      </dgm:prSet>
      <dgm:spPr/>
    </dgm:pt>
    <dgm:pt modelId="{CD4575FA-92A0-4B2C-BF1C-0C1837BD004D}" type="pres">
      <dgm:prSet presAssocID="{57120F4C-C77B-42B0-847B-7463D754B0A9}" presName="bgRect" presStyleLbl="alignNode1" presStyleIdx="1" presStyleCnt="3"/>
      <dgm:spPr/>
    </dgm:pt>
    <dgm:pt modelId="{F6E84CC4-CA63-4E0B-A043-FF5D28126744}" type="pres">
      <dgm:prSet presAssocID="{575AF3D4-7693-46E1-8608-FDE08F77A903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134AC9C0-45D6-44BB-B213-6D6ED5BCEC1E}" type="pres">
      <dgm:prSet presAssocID="{57120F4C-C77B-42B0-847B-7463D754B0A9}" presName="nodeRect" presStyleLbl="alignNode1" presStyleIdx="1" presStyleCnt="3">
        <dgm:presLayoutVars>
          <dgm:bulletEnabled val="1"/>
        </dgm:presLayoutVars>
      </dgm:prSet>
      <dgm:spPr/>
    </dgm:pt>
    <dgm:pt modelId="{268F15E1-6D10-4FD0-ADCF-B1D2B2AF3BCE}" type="pres">
      <dgm:prSet presAssocID="{575AF3D4-7693-46E1-8608-FDE08F77A903}" presName="sibTrans" presStyleCnt="0"/>
      <dgm:spPr/>
    </dgm:pt>
    <dgm:pt modelId="{E5635126-4F1E-43AC-B0C0-A354783A7CB9}" type="pres">
      <dgm:prSet presAssocID="{F6BD09C4-17DF-47D3-AFA3-F52A8ED6A503}" presName="compositeNode" presStyleCnt="0">
        <dgm:presLayoutVars>
          <dgm:bulletEnabled val="1"/>
        </dgm:presLayoutVars>
      </dgm:prSet>
      <dgm:spPr/>
    </dgm:pt>
    <dgm:pt modelId="{18EB8340-0830-4DCE-B988-C5CFE629B954}" type="pres">
      <dgm:prSet presAssocID="{F6BD09C4-17DF-47D3-AFA3-F52A8ED6A503}" presName="bgRect" presStyleLbl="alignNode1" presStyleIdx="2" presStyleCnt="3"/>
      <dgm:spPr/>
    </dgm:pt>
    <dgm:pt modelId="{4A1E4AF2-3262-4363-AD8F-5841BE8933D4}" type="pres">
      <dgm:prSet presAssocID="{C8A74419-5FAA-49A6-A7A1-5D248C1D1339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81289597-6B73-45D8-9139-AB7134A51CB2}" type="pres">
      <dgm:prSet presAssocID="{F6BD09C4-17DF-47D3-AFA3-F52A8ED6A503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E8C2810F-7D12-405B-85A2-D247CFB96687}" type="presOf" srcId="{F6BD09C4-17DF-47D3-AFA3-F52A8ED6A503}" destId="{81289597-6B73-45D8-9139-AB7134A51CB2}" srcOrd="1" destOrd="0" presId="urn:microsoft.com/office/officeart/2016/7/layout/LinearBlockProcessNumbered"/>
    <dgm:cxn modelId="{0587BB12-7AEC-4A49-8259-83CCA6E32044}" srcId="{586B6F01-8984-41C2-BF84-B7C5759E63C5}" destId="{EDE95C01-1480-4930-892B-B6702C8E57F5}" srcOrd="0" destOrd="0" parTransId="{B7485C61-573A-4539-8E44-79840BDBB2E1}" sibTransId="{D8205EF7-DE67-4769-BAF3-F23A2A459037}"/>
    <dgm:cxn modelId="{08A39234-6F73-4DF4-A077-966ECD596C94}" type="presOf" srcId="{EDE95C01-1480-4930-892B-B6702C8E57F5}" destId="{D0434ECC-33F4-4301-B0D6-1D9595960353}" srcOrd="1" destOrd="0" presId="urn:microsoft.com/office/officeart/2016/7/layout/LinearBlockProcessNumbered"/>
    <dgm:cxn modelId="{34C73567-5341-412F-AAE8-60F056E9EEC2}" srcId="{586B6F01-8984-41C2-BF84-B7C5759E63C5}" destId="{F6BD09C4-17DF-47D3-AFA3-F52A8ED6A503}" srcOrd="2" destOrd="0" parTransId="{25F2D755-1030-481F-8E10-BE642655AA16}" sibTransId="{C8A74419-5FAA-49A6-A7A1-5D248C1D1339}"/>
    <dgm:cxn modelId="{4AC8B169-BA7B-4F3B-A395-F67BB972C590}" type="presOf" srcId="{586B6F01-8984-41C2-BF84-B7C5759E63C5}" destId="{DE6E09D6-83D7-4E4B-88A3-4B9CE0FC0B6D}" srcOrd="0" destOrd="0" presId="urn:microsoft.com/office/officeart/2016/7/layout/LinearBlockProcessNumbered"/>
    <dgm:cxn modelId="{FE7B486B-1EE4-4F51-832A-A0AA6782390F}" srcId="{586B6F01-8984-41C2-BF84-B7C5759E63C5}" destId="{57120F4C-C77B-42B0-847B-7463D754B0A9}" srcOrd="1" destOrd="0" parTransId="{A2F61F1C-6232-48E0-89FA-8340C9BA47CE}" sibTransId="{575AF3D4-7693-46E1-8608-FDE08F77A903}"/>
    <dgm:cxn modelId="{23C69357-E762-4B01-B144-B42EFAF47FE5}" type="presOf" srcId="{EDE95C01-1480-4930-892B-B6702C8E57F5}" destId="{2A3EF2FE-D83D-478B-B1EE-36DCFF651245}" srcOrd="0" destOrd="0" presId="urn:microsoft.com/office/officeart/2016/7/layout/LinearBlockProcessNumbered"/>
    <dgm:cxn modelId="{5D7A2284-0275-4329-8F06-51B01BEBDFA5}" type="presOf" srcId="{575AF3D4-7693-46E1-8608-FDE08F77A903}" destId="{F6E84CC4-CA63-4E0B-A043-FF5D28126744}" srcOrd="0" destOrd="0" presId="urn:microsoft.com/office/officeart/2016/7/layout/LinearBlockProcessNumbered"/>
    <dgm:cxn modelId="{9361DA87-3755-493D-A550-B2149195B165}" type="presOf" srcId="{C8A74419-5FAA-49A6-A7A1-5D248C1D1339}" destId="{4A1E4AF2-3262-4363-AD8F-5841BE8933D4}" srcOrd="0" destOrd="0" presId="urn:microsoft.com/office/officeart/2016/7/layout/LinearBlockProcessNumbered"/>
    <dgm:cxn modelId="{43C85D8E-A04F-45CB-A972-6D7E42DF508D}" type="presOf" srcId="{57120F4C-C77B-42B0-847B-7463D754B0A9}" destId="{134AC9C0-45D6-44BB-B213-6D6ED5BCEC1E}" srcOrd="1" destOrd="0" presId="urn:microsoft.com/office/officeart/2016/7/layout/LinearBlockProcessNumbered"/>
    <dgm:cxn modelId="{61EAD1B0-9F07-4ACD-A1A1-FBE9B72F9AAC}" type="presOf" srcId="{57120F4C-C77B-42B0-847B-7463D754B0A9}" destId="{CD4575FA-92A0-4B2C-BF1C-0C1837BD004D}" srcOrd="0" destOrd="0" presId="urn:microsoft.com/office/officeart/2016/7/layout/LinearBlockProcessNumbered"/>
    <dgm:cxn modelId="{E0D044B2-6AB4-42A2-86A0-6C58D6DCA914}" type="presOf" srcId="{F6BD09C4-17DF-47D3-AFA3-F52A8ED6A503}" destId="{18EB8340-0830-4DCE-B988-C5CFE629B954}" srcOrd="0" destOrd="0" presId="urn:microsoft.com/office/officeart/2016/7/layout/LinearBlockProcessNumbered"/>
    <dgm:cxn modelId="{8A96C6D7-9793-44A9-9D51-1E5425EE7A2F}" type="presOf" srcId="{D8205EF7-DE67-4769-BAF3-F23A2A459037}" destId="{2800AFBA-9185-47D9-B9B3-98A6A9473E44}" srcOrd="0" destOrd="0" presId="urn:microsoft.com/office/officeart/2016/7/layout/LinearBlockProcessNumbered"/>
    <dgm:cxn modelId="{F2146F72-3B40-4012-B694-8A3846947D9A}" type="presParOf" srcId="{DE6E09D6-83D7-4E4B-88A3-4B9CE0FC0B6D}" destId="{844E0C7B-BC93-451C-9EB9-1839D0BB00B8}" srcOrd="0" destOrd="0" presId="urn:microsoft.com/office/officeart/2016/7/layout/LinearBlockProcessNumbered"/>
    <dgm:cxn modelId="{11D9F68C-C614-4E6B-862D-10C9106762CB}" type="presParOf" srcId="{844E0C7B-BC93-451C-9EB9-1839D0BB00B8}" destId="{2A3EF2FE-D83D-478B-B1EE-36DCFF651245}" srcOrd="0" destOrd="0" presId="urn:microsoft.com/office/officeart/2016/7/layout/LinearBlockProcessNumbered"/>
    <dgm:cxn modelId="{720B54A4-E2F2-449D-8AF0-2714AC71C767}" type="presParOf" srcId="{844E0C7B-BC93-451C-9EB9-1839D0BB00B8}" destId="{2800AFBA-9185-47D9-B9B3-98A6A9473E44}" srcOrd="1" destOrd="0" presId="urn:microsoft.com/office/officeart/2016/7/layout/LinearBlockProcessNumbered"/>
    <dgm:cxn modelId="{9DA56EEE-BA7C-4DFE-BC3D-5BFFFB3A4C4E}" type="presParOf" srcId="{844E0C7B-BC93-451C-9EB9-1839D0BB00B8}" destId="{D0434ECC-33F4-4301-B0D6-1D9595960353}" srcOrd="2" destOrd="0" presId="urn:microsoft.com/office/officeart/2016/7/layout/LinearBlockProcessNumbered"/>
    <dgm:cxn modelId="{FF263105-BD32-4EAF-9D92-8BE25482ECB8}" type="presParOf" srcId="{DE6E09D6-83D7-4E4B-88A3-4B9CE0FC0B6D}" destId="{91267EF5-8252-4AB0-BCB8-CB97185A00B1}" srcOrd="1" destOrd="0" presId="urn:microsoft.com/office/officeart/2016/7/layout/LinearBlockProcessNumbered"/>
    <dgm:cxn modelId="{CB29AEB4-04D2-434B-B73B-6EF97C42A99E}" type="presParOf" srcId="{DE6E09D6-83D7-4E4B-88A3-4B9CE0FC0B6D}" destId="{4E746D66-9794-4053-BC05-27835C204659}" srcOrd="2" destOrd="0" presId="urn:microsoft.com/office/officeart/2016/7/layout/LinearBlockProcessNumbered"/>
    <dgm:cxn modelId="{94077207-5594-4C9D-B9A8-44DC716589F9}" type="presParOf" srcId="{4E746D66-9794-4053-BC05-27835C204659}" destId="{CD4575FA-92A0-4B2C-BF1C-0C1837BD004D}" srcOrd="0" destOrd="0" presId="urn:microsoft.com/office/officeart/2016/7/layout/LinearBlockProcessNumbered"/>
    <dgm:cxn modelId="{B199C6F3-7826-457B-9DAA-08B99E9DAAAA}" type="presParOf" srcId="{4E746D66-9794-4053-BC05-27835C204659}" destId="{F6E84CC4-CA63-4E0B-A043-FF5D28126744}" srcOrd="1" destOrd="0" presId="urn:microsoft.com/office/officeart/2016/7/layout/LinearBlockProcessNumbered"/>
    <dgm:cxn modelId="{EE07DB51-4BD1-4B16-B33B-40541B41CD86}" type="presParOf" srcId="{4E746D66-9794-4053-BC05-27835C204659}" destId="{134AC9C0-45D6-44BB-B213-6D6ED5BCEC1E}" srcOrd="2" destOrd="0" presId="urn:microsoft.com/office/officeart/2016/7/layout/LinearBlockProcessNumbered"/>
    <dgm:cxn modelId="{6771D9F6-C39D-4D0A-A4C8-C6BD90D4ED17}" type="presParOf" srcId="{DE6E09D6-83D7-4E4B-88A3-4B9CE0FC0B6D}" destId="{268F15E1-6D10-4FD0-ADCF-B1D2B2AF3BCE}" srcOrd="3" destOrd="0" presId="urn:microsoft.com/office/officeart/2016/7/layout/LinearBlockProcessNumbered"/>
    <dgm:cxn modelId="{BDC197D3-D07B-4038-AB62-C5A9D2CAB6A2}" type="presParOf" srcId="{DE6E09D6-83D7-4E4B-88A3-4B9CE0FC0B6D}" destId="{E5635126-4F1E-43AC-B0C0-A354783A7CB9}" srcOrd="4" destOrd="0" presId="urn:microsoft.com/office/officeart/2016/7/layout/LinearBlockProcessNumbered"/>
    <dgm:cxn modelId="{5E0D74C2-F476-47E8-8361-646C200A489E}" type="presParOf" srcId="{E5635126-4F1E-43AC-B0C0-A354783A7CB9}" destId="{18EB8340-0830-4DCE-B988-C5CFE629B954}" srcOrd="0" destOrd="0" presId="urn:microsoft.com/office/officeart/2016/7/layout/LinearBlockProcessNumbered"/>
    <dgm:cxn modelId="{97F31CBF-8D96-4B3D-A54D-BC10D78CA99F}" type="presParOf" srcId="{E5635126-4F1E-43AC-B0C0-A354783A7CB9}" destId="{4A1E4AF2-3262-4363-AD8F-5841BE8933D4}" srcOrd="1" destOrd="0" presId="urn:microsoft.com/office/officeart/2016/7/layout/LinearBlockProcessNumbered"/>
    <dgm:cxn modelId="{872C7E26-75DD-4195-96DD-05FE5EA833A6}" type="presParOf" srcId="{E5635126-4F1E-43AC-B0C0-A354783A7CB9}" destId="{81289597-6B73-45D8-9139-AB7134A51CB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CAE6626-96DE-4AE9-8F45-239DEE57D897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E83A05A-4D91-4B2D-AF7F-BD14507326A2}">
      <dgm:prSet/>
      <dgm:spPr/>
      <dgm:t>
        <a:bodyPr/>
        <a:lstStyle/>
        <a:p>
          <a:r>
            <a:rPr lang="en-IN" b="1"/>
            <a:t>Slide title:</a:t>
          </a:r>
          <a:r>
            <a:rPr lang="en-IN"/>
            <a:t> Data Overview</a:t>
          </a:r>
          <a:endParaRPr lang="en-US"/>
        </a:p>
      </dgm:t>
    </dgm:pt>
    <dgm:pt modelId="{E5E850A5-BB82-49E1-A93B-6443768C3B5B}" type="parTrans" cxnId="{1E77DF03-3D8E-495A-9CE4-0ADF0D3916F5}">
      <dgm:prSet/>
      <dgm:spPr/>
      <dgm:t>
        <a:bodyPr/>
        <a:lstStyle/>
        <a:p>
          <a:endParaRPr lang="en-US"/>
        </a:p>
      </dgm:t>
    </dgm:pt>
    <dgm:pt modelId="{0CF7AC95-3E27-47CD-AA10-2C3C637B3782}" type="sibTrans" cxnId="{1E77DF03-3D8E-495A-9CE4-0ADF0D3916F5}">
      <dgm:prSet/>
      <dgm:spPr/>
      <dgm:t>
        <a:bodyPr/>
        <a:lstStyle/>
        <a:p>
          <a:endParaRPr lang="en-US"/>
        </a:p>
      </dgm:t>
    </dgm:pt>
    <dgm:pt modelId="{FD99499B-3C6B-47A3-9892-FDB5CC5BBE37}">
      <dgm:prSet/>
      <dgm:spPr/>
      <dgm:t>
        <a:bodyPr/>
        <a:lstStyle/>
        <a:p>
          <a:r>
            <a:rPr lang="en-US"/>
            <a:t>The dataset contains device-level records with fields such as: Model, Colour, Memory (GB), RAM (GB), Battery (mAh), Rear Camera, Front Camera, AI Lens flag, Mobile Height, Processor, and Price.</a:t>
          </a:r>
        </a:p>
      </dgm:t>
    </dgm:pt>
    <dgm:pt modelId="{71184ADC-1848-4B63-84E5-3B17AC4CA423}" type="parTrans" cxnId="{125950D1-AF63-4B04-9DDE-A4C241CC08B2}">
      <dgm:prSet/>
      <dgm:spPr/>
      <dgm:t>
        <a:bodyPr/>
        <a:lstStyle/>
        <a:p>
          <a:endParaRPr lang="en-US"/>
        </a:p>
      </dgm:t>
    </dgm:pt>
    <dgm:pt modelId="{21EF1A2E-1CA2-43C7-B154-EE1B47E21BD3}" type="sibTrans" cxnId="{125950D1-AF63-4B04-9DDE-A4C241CC08B2}">
      <dgm:prSet/>
      <dgm:spPr/>
      <dgm:t>
        <a:bodyPr/>
        <a:lstStyle/>
        <a:p>
          <a:endParaRPr lang="en-US"/>
        </a:p>
      </dgm:t>
    </dgm:pt>
    <dgm:pt modelId="{202D4C07-B690-4E6C-988B-031950EEE9BF}" type="pres">
      <dgm:prSet presAssocID="{2CAE6626-96DE-4AE9-8F45-239DEE57D89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4DE01B3-188E-4BE1-B94E-41995D13D961}" type="pres">
      <dgm:prSet presAssocID="{DE83A05A-4D91-4B2D-AF7F-BD14507326A2}" presName="hierRoot1" presStyleCnt="0"/>
      <dgm:spPr/>
    </dgm:pt>
    <dgm:pt modelId="{0B7D84B2-4A3E-4E8B-8277-DD7CFAD7DA63}" type="pres">
      <dgm:prSet presAssocID="{DE83A05A-4D91-4B2D-AF7F-BD14507326A2}" presName="composite" presStyleCnt="0"/>
      <dgm:spPr/>
    </dgm:pt>
    <dgm:pt modelId="{469C552C-664E-4CAE-AD7C-7DC177853B0F}" type="pres">
      <dgm:prSet presAssocID="{DE83A05A-4D91-4B2D-AF7F-BD14507326A2}" presName="background" presStyleLbl="node0" presStyleIdx="0" presStyleCnt="2"/>
      <dgm:spPr/>
    </dgm:pt>
    <dgm:pt modelId="{AB55F901-DDB7-4407-B025-59E4A56D0219}" type="pres">
      <dgm:prSet presAssocID="{DE83A05A-4D91-4B2D-AF7F-BD14507326A2}" presName="text" presStyleLbl="fgAcc0" presStyleIdx="0" presStyleCnt="2">
        <dgm:presLayoutVars>
          <dgm:chPref val="3"/>
        </dgm:presLayoutVars>
      </dgm:prSet>
      <dgm:spPr/>
    </dgm:pt>
    <dgm:pt modelId="{29463488-0B33-4F58-9C64-9AD68D7E500B}" type="pres">
      <dgm:prSet presAssocID="{DE83A05A-4D91-4B2D-AF7F-BD14507326A2}" presName="hierChild2" presStyleCnt="0"/>
      <dgm:spPr/>
    </dgm:pt>
    <dgm:pt modelId="{9719016E-2370-4F5C-B95F-86BCF5C54689}" type="pres">
      <dgm:prSet presAssocID="{FD99499B-3C6B-47A3-9892-FDB5CC5BBE37}" presName="hierRoot1" presStyleCnt="0"/>
      <dgm:spPr/>
    </dgm:pt>
    <dgm:pt modelId="{49F4CC12-2970-45BF-B74A-A9C04B5F0C50}" type="pres">
      <dgm:prSet presAssocID="{FD99499B-3C6B-47A3-9892-FDB5CC5BBE37}" presName="composite" presStyleCnt="0"/>
      <dgm:spPr/>
    </dgm:pt>
    <dgm:pt modelId="{D8286A82-3C41-41C3-8183-E4C2D58A4FB5}" type="pres">
      <dgm:prSet presAssocID="{FD99499B-3C6B-47A3-9892-FDB5CC5BBE37}" presName="background" presStyleLbl="node0" presStyleIdx="1" presStyleCnt="2"/>
      <dgm:spPr/>
    </dgm:pt>
    <dgm:pt modelId="{8C862DA7-9279-4827-A850-ECE6D734DAE4}" type="pres">
      <dgm:prSet presAssocID="{FD99499B-3C6B-47A3-9892-FDB5CC5BBE37}" presName="text" presStyleLbl="fgAcc0" presStyleIdx="1" presStyleCnt="2">
        <dgm:presLayoutVars>
          <dgm:chPref val="3"/>
        </dgm:presLayoutVars>
      </dgm:prSet>
      <dgm:spPr/>
    </dgm:pt>
    <dgm:pt modelId="{FD8296F3-48FB-4717-B201-D49DE78B6736}" type="pres">
      <dgm:prSet presAssocID="{FD99499B-3C6B-47A3-9892-FDB5CC5BBE37}" presName="hierChild2" presStyleCnt="0"/>
      <dgm:spPr/>
    </dgm:pt>
  </dgm:ptLst>
  <dgm:cxnLst>
    <dgm:cxn modelId="{1E77DF03-3D8E-495A-9CE4-0ADF0D3916F5}" srcId="{2CAE6626-96DE-4AE9-8F45-239DEE57D897}" destId="{DE83A05A-4D91-4B2D-AF7F-BD14507326A2}" srcOrd="0" destOrd="0" parTransId="{E5E850A5-BB82-49E1-A93B-6443768C3B5B}" sibTransId="{0CF7AC95-3E27-47CD-AA10-2C3C637B3782}"/>
    <dgm:cxn modelId="{A39DD21E-6AED-4DEE-9F8C-16E2115A871B}" type="presOf" srcId="{FD99499B-3C6B-47A3-9892-FDB5CC5BBE37}" destId="{8C862DA7-9279-4827-A850-ECE6D734DAE4}" srcOrd="0" destOrd="0" presId="urn:microsoft.com/office/officeart/2005/8/layout/hierarchy1"/>
    <dgm:cxn modelId="{E1477048-AADC-45BB-A749-BE3B0AEC896F}" type="presOf" srcId="{DE83A05A-4D91-4B2D-AF7F-BD14507326A2}" destId="{AB55F901-DDB7-4407-B025-59E4A56D0219}" srcOrd="0" destOrd="0" presId="urn:microsoft.com/office/officeart/2005/8/layout/hierarchy1"/>
    <dgm:cxn modelId="{F40DE1A8-70CC-4EB6-959A-66B1B674C0A8}" type="presOf" srcId="{2CAE6626-96DE-4AE9-8F45-239DEE57D897}" destId="{202D4C07-B690-4E6C-988B-031950EEE9BF}" srcOrd="0" destOrd="0" presId="urn:microsoft.com/office/officeart/2005/8/layout/hierarchy1"/>
    <dgm:cxn modelId="{125950D1-AF63-4B04-9DDE-A4C241CC08B2}" srcId="{2CAE6626-96DE-4AE9-8F45-239DEE57D897}" destId="{FD99499B-3C6B-47A3-9892-FDB5CC5BBE37}" srcOrd="1" destOrd="0" parTransId="{71184ADC-1848-4B63-84E5-3B17AC4CA423}" sibTransId="{21EF1A2E-1CA2-43C7-B154-EE1B47E21BD3}"/>
    <dgm:cxn modelId="{99FBAE12-799F-4738-AE7E-FB4547DE9BA7}" type="presParOf" srcId="{202D4C07-B690-4E6C-988B-031950EEE9BF}" destId="{74DE01B3-188E-4BE1-B94E-41995D13D961}" srcOrd="0" destOrd="0" presId="urn:microsoft.com/office/officeart/2005/8/layout/hierarchy1"/>
    <dgm:cxn modelId="{79F9F497-679C-4826-924B-D87766DD1443}" type="presParOf" srcId="{74DE01B3-188E-4BE1-B94E-41995D13D961}" destId="{0B7D84B2-4A3E-4E8B-8277-DD7CFAD7DA63}" srcOrd="0" destOrd="0" presId="urn:microsoft.com/office/officeart/2005/8/layout/hierarchy1"/>
    <dgm:cxn modelId="{21AF5F50-5E59-45FC-8853-8325FE29A5E3}" type="presParOf" srcId="{0B7D84B2-4A3E-4E8B-8277-DD7CFAD7DA63}" destId="{469C552C-664E-4CAE-AD7C-7DC177853B0F}" srcOrd="0" destOrd="0" presId="urn:microsoft.com/office/officeart/2005/8/layout/hierarchy1"/>
    <dgm:cxn modelId="{6AB2FBF7-46F8-4698-BDE1-3932D775A2D2}" type="presParOf" srcId="{0B7D84B2-4A3E-4E8B-8277-DD7CFAD7DA63}" destId="{AB55F901-DDB7-4407-B025-59E4A56D0219}" srcOrd="1" destOrd="0" presId="urn:microsoft.com/office/officeart/2005/8/layout/hierarchy1"/>
    <dgm:cxn modelId="{7CFF48D0-D734-4D4D-AD3E-F794CBEE6669}" type="presParOf" srcId="{74DE01B3-188E-4BE1-B94E-41995D13D961}" destId="{29463488-0B33-4F58-9C64-9AD68D7E500B}" srcOrd="1" destOrd="0" presId="urn:microsoft.com/office/officeart/2005/8/layout/hierarchy1"/>
    <dgm:cxn modelId="{B573F8AF-BEB7-4BAF-A81D-D9117A282FD3}" type="presParOf" srcId="{202D4C07-B690-4E6C-988B-031950EEE9BF}" destId="{9719016E-2370-4F5C-B95F-86BCF5C54689}" srcOrd="1" destOrd="0" presId="urn:microsoft.com/office/officeart/2005/8/layout/hierarchy1"/>
    <dgm:cxn modelId="{1830E6B3-F248-40D3-9245-76209CDB7ACC}" type="presParOf" srcId="{9719016E-2370-4F5C-B95F-86BCF5C54689}" destId="{49F4CC12-2970-45BF-B74A-A9C04B5F0C50}" srcOrd="0" destOrd="0" presId="urn:microsoft.com/office/officeart/2005/8/layout/hierarchy1"/>
    <dgm:cxn modelId="{FF723C24-2133-490A-8645-8A5A5CF1250A}" type="presParOf" srcId="{49F4CC12-2970-45BF-B74A-A9C04B5F0C50}" destId="{D8286A82-3C41-41C3-8183-E4C2D58A4FB5}" srcOrd="0" destOrd="0" presId="urn:microsoft.com/office/officeart/2005/8/layout/hierarchy1"/>
    <dgm:cxn modelId="{0BA14E8B-AE9D-4A49-964D-04929FEF21B3}" type="presParOf" srcId="{49F4CC12-2970-45BF-B74A-A9C04B5F0C50}" destId="{8C862DA7-9279-4827-A850-ECE6D734DAE4}" srcOrd="1" destOrd="0" presId="urn:microsoft.com/office/officeart/2005/8/layout/hierarchy1"/>
    <dgm:cxn modelId="{1406D6DE-8679-4D73-9F57-512FC6FC0F91}" type="presParOf" srcId="{9719016E-2370-4F5C-B95F-86BCF5C54689}" destId="{FD8296F3-48FB-4717-B201-D49DE78B673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B8AE24-F2C9-4C72-9BFF-E42FA4A4F55F}">
      <dsp:nvSpPr>
        <dsp:cNvPr id="0" name=""/>
        <dsp:cNvSpPr/>
      </dsp:nvSpPr>
      <dsp:spPr>
        <a:xfrm>
          <a:off x="0" y="623"/>
          <a:ext cx="721641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0E4410-F21E-4C8B-A35E-AAADC334862E}">
      <dsp:nvSpPr>
        <dsp:cNvPr id="0" name=""/>
        <dsp:cNvSpPr/>
      </dsp:nvSpPr>
      <dsp:spPr>
        <a:xfrm>
          <a:off x="0" y="623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Slide title: Project Outline</a:t>
          </a:r>
          <a:endParaRPr lang="en-US" sz="2300" kern="1200"/>
        </a:p>
      </dsp:txBody>
      <dsp:txXfrm>
        <a:off x="0" y="623"/>
        <a:ext cx="7216416" cy="730001"/>
      </dsp:txXfrm>
    </dsp:sp>
    <dsp:sp modelId="{3D7EB949-D87B-4795-9685-80AAD66BEF45}">
      <dsp:nvSpPr>
        <dsp:cNvPr id="0" name=""/>
        <dsp:cNvSpPr/>
      </dsp:nvSpPr>
      <dsp:spPr>
        <a:xfrm>
          <a:off x="0" y="730625"/>
          <a:ext cx="7216416" cy="0"/>
        </a:xfrm>
        <a:prstGeom prst="line">
          <a:avLst/>
        </a:prstGeom>
        <a:solidFill>
          <a:schemeClr val="accent2">
            <a:hueOff val="317965"/>
            <a:satOff val="-7255"/>
            <a:lumOff val="2680"/>
            <a:alphaOff val="0"/>
          </a:schemeClr>
        </a:solidFill>
        <a:ln w="12700" cap="flat" cmpd="sng" algn="ctr">
          <a:solidFill>
            <a:schemeClr val="accent2">
              <a:hueOff val="317965"/>
              <a:satOff val="-7255"/>
              <a:lumOff val="268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859B8F-2F2C-4BEF-8419-5DDFF5016785}">
      <dsp:nvSpPr>
        <dsp:cNvPr id="0" name=""/>
        <dsp:cNvSpPr/>
      </dsp:nvSpPr>
      <dsp:spPr>
        <a:xfrm>
          <a:off x="0" y="730625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Problem statement &amp; objective</a:t>
          </a:r>
          <a:endParaRPr lang="en-US" sz="2300" kern="1200"/>
        </a:p>
      </dsp:txBody>
      <dsp:txXfrm>
        <a:off x="0" y="730625"/>
        <a:ext cx="7216416" cy="730001"/>
      </dsp:txXfrm>
    </dsp:sp>
    <dsp:sp modelId="{874F41B4-56DB-4D8A-B500-1CE7E512EAAA}">
      <dsp:nvSpPr>
        <dsp:cNvPr id="0" name=""/>
        <dsp:cNvSpPr/>
      </dsp:nvSpPr>
      <dsp:spPr>
        <a:xfrm>
          <a:off x="0" y="1460627"/>
          <a:ext cx="7216416" cy="0"/>
        </a:xfrm>
        <a:prstGeom prst="line">
          <a:avLst/>
        </a:prstGeom>
        <a:solidFill>
          <a:schemeClr val="accent2">
            <a:hueOff val="635930"/>
            <a:satOff val="-14509"/>
            <a:lumOff val="5360"/>
            <a:alphaOff val="0"/>
          </a:schemeClr>
        </a:solidFill>
        <a:ln w="12700" cap="flat" cmpd="sng" algn="ctr">
          <a:solidFill>
            <a:schemeClr val="accent2">
              <a:hueOff val="635930"/>
              <a:satOff val="-14509"/>
              <a:lumOff val="536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BA10CB-53C5-4515-AAEB-E6655182FA14}">
      <dsp:nvSpPr>
        <dsp:cNvPr id="0" name=""/>
        <dsp:cNvSpPr/>
      </dsp:nvSpPr>
      <dsp:spPr>
        <a:xfrm>
          <a:off x="0" y="1460627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Data loading &amp; cleaning steps</a:t>
          </a:r>
          <a:endParaRPr lang="en-US" sz="2300" kern="1200"/>
        </a:p>
      </dsp:txBody>
      <dsp:txXfrm>
        <a:off x="0" y="1460627"/>
        <a:ext cx="7216416" cy="730001"/>
      </dsp:txXfrm>
    </dsp:sp>
    <dsp:sp modelId="{76008E70-5EA8-4AB5-B36B-98CCE0740E4F}">
      <dsp:nvSpPr>
        <dsp:cNvPr id="0" name=""/>
        <dsp:cNvSpPr/>
      </dsp:nvSpPr>
      <dsp:spPr>
        <a:xfrm>
          <a:off x="0" y="2190629"/>
          <a:ext cx="7216416" cy="0"/>
        </a:xfrm>
        <a:prstGeom prst="line">
          <a:avLst/>
        </a:prstGeom>
        <a:solidFill>
          <a:schemeClr val="accent2">
            <a:hueOff val="953895"/>
            <a:satOff val="-21764"/>
            <a:lumOff val="8039"/>
            <a:alphaOff val="0"/>
          </a:schemeClr>
        </a:solidFill>
        <a:ln w="12700" cap="flat" cmpd="sng" algn="ctr">
          <a:solidFill>
            <a:schemeClr val="accent2">
              <a:hueOff val="953895"/>
              <a:satOff val="-21764"/>
              <a:lumOff val="80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24C6BD-9093-409D-8B85-30B634F28F44}">
      <dsp:nvSpPr>
        <dsp:cNvPr id="0" name=""/>
        <dsp:cNvSpPr/>
      </dsp:nvSpPr>
      <dsp:spPr>
        <a:xfrm>
          <a:off x="0" y="2190629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Exploratory data analysis (uni/bi/multivariate)</a:t>
          </a:r>
          <a:endParaRPr lang="en-US" sz="2300" kern="1200"/>
        </a:p>
      </dsp:txBody>
      <dsp:txXfrm>
        <a:off x="0" y="2190629"/>
        <a:ext cx="7216416" cy="730001"/>
      </dsp:txXfrm>
    </dsp:sp>
    <dsp:sp modelId="{51052B7C-A112-4D5D-86DF-AFCE72E55D8E}">
      <dsp:nvSpPr>
        <dsp:cNvPr id="0" name=""/>
        <dsp:cNvSpPr/>
      </dsp:nvSpPr>
      <dsp:spPr>
        <a:xfrm>
          <a:off x="0" y="2920630"/>
          <a:ext cx="7216416" cy="0"/>
        </a:xfrm>
        <a:prstGeom prst="line">
          <a:avLst/>
        </a:prstGeom>
        <a:solidFill>
          <a:schemeClr val="accent2">
            <a:hueOff val="1271860"/>
            <a:satOff val="-29019"/>
            <a:lumOff val="10719"/>
            <a:alphaOff val="0"/>
          </a:schemeClr>
        </a:solidFill>
        <a:ln w="12700" cap="flat" cmpd="sng" algn="ctr">
          <a:solidFill>
            <a:schemeClr val="accent2">
              <a:hueOff val="1271860"/>
              <a:satOff val="-29019"/>
              <a:lumOff val="1071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E376C9-994C-4FBA-8F7C-6F6D34CCC4F3}">
      <dsp:nvSpPr>
        <dsp:cNvPr id="0" name=""/>
        <dsp:cNvSpPr/>
      </dsp:nvSpPr>
      <dsp:spPr>
        <a:xfrm>
          <a:off x="0" y="2920630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Feature engineering &amp; encoding</a:t>
          </a:r>
          <a:endParaRPr lang="en-US" sz="2300" kern="1200"/>
        </a:p>
      </dsp:txBody>
      <dsp:txXfrm>
        <a:off x="0" y="2920630"/>
        <a:ext cx="7216416" cy="730001"/>
      </dsp:txXfrm>
    </dsp:sp>
    <dsp:sp modelId="{409B3A48-A282-4B2E-88D4-2A9B2FF2645C}">
      <dsp:nvSpPr>
        <dsp:cNvPr id="0" name=""/>
        <dsp:cNvSpPr/>
      </dsp:nvSpPr>
      <dsp:spPr>
        <a:xfrm>
          <a:off x="0" y="3650632"/>
          <a:ext cx="7216416" cy="0"/>
        </a:xfrm>
        <a:prstGeom prst="line">
          <a:avLst/>
        </a:prstGeom>
        <a:solidFill>
          <a:schemeClr val="accent2">
            <a:hueOff val="1589824"/>
            <a:satOff val="-36273"/>
            <a:lumOff val="13399"/>
            <a:alphaOff val="0"/>
          </a:schemeClr>
        </a:solidFill>
        <a:ln w="12700" cap="flat" cmpd="sng" algn="ctr">
          <a:solidFill>
            <a:schemeClr val="accent2">
              <a:hueOff val="1589824"/>
              <a:satOff val="-36273"/>
              <a:lumOff val="1339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6CABE1-2C8A-4E71-A5D9-8BBC741EB36E}">
      <dsp:nvSpPr>
        <dsp:cNvPr id="0" name=""/>
        <dsp:cNvSpPr/>
      </dsp:nvSpPr>
      <dsp:spPr>
        <a:xfrm>
          <a:off x="0" y="3650632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Model building and evaluation</a:t>
          </a:r>
          <a:endParaRPr lang="en-US" sz="2300" kern="1200"/>
        </a:p>
      </dsp:txBody>
      <dsp:txXfrm>
        <a:off x="0" y="3650632"/>
        <a:ext cx="7216416" cy="730001"/>
      </dsp:txXfrm>
    </dsp:sp>
    <dsp:sp modelId="{5A67FF0F-283C-4E89-A7BF-AE3DF299D60F}">
      <dsp:nvSpPr>
        <dsp:cNvPr id="0" name=""/>
        <dsp:cNvSpPr/>
      </dsp:nvSpPr>
      <dsp:spPr>
        <a:xfrm>
          <a:off x="0" y="4380634"/>
          <a:ext cx="7216416" cy="0"/>
        </a:xfrm>
        <a:prstGeom prst="line">
          <a:avLst/>
        </a:prstGeom>
        <a:solidFill>
          <a:schemeClr val="accent2">
            <a:hueOff val="1907789"/>
            <a:satOff val="-43528"/>
            <a:lumOff val="16079"/>
            <a:alphaOff val="0"/>
          </a:schemeClr>
        </a:solidFill>
        <a:ln w="12700" cap="flat" cmpd="sng" algn="ctr">
          <a:solidFill>
            <a:schemeClr val="accent2">
              <a:hueOff val="1907789"/>
              <a:satOff val="-43528"/>
              <a:lumOff val="1607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1DAA21-97F7-42E8-8D7E-0BD7795F7163}">
      <dsp:nvSpPr>
        <dsp:cNvPr id="0" name=""/>
        <dsp:cNvSpPr/>
      </dsp:nvSpPr>
      <dsp:spPr>
        <a:xfrm>
          <a:off x="0" y="4380634"/>
          <a:ext cx="7216416" cy="730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b="1" kern="1200"/>
            <a:t>Feature importance &amp; recommendations</a:t>
          </a:r>
          <a:endParaRPr lang="en-US" sz="2300" kern="1200"/>
        </a:p>
      </dsp:txBody>
      <dsp:txXfrm>
        <a:off x="0" y="4380634"/>
        <a:ext cx="7216416" cy="73000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3EF2FE-D83D-478B-B1EE-36DCFF651245}">
      <dsp:nvSpPr>
        <dsp:cNvPr id="0" name=""/>
        <dsp:cNvSpPr/>
      </dsp:nvSpPr>
      <dsp:spPr>
        <a:xfrm>
          <a:off x="850" y="0"/>
          <a:ext cx="3445958" cy="373886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0" rIns="340384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Slide title: Problem &amp; Objective</a:t>
          </a:r>
          <a:br>
            <a:rPr lang="en-US" sz="1800" b="1" kern="1200"/>
          </a:br>
          <a:r>
            <a:rPr lang="en-US" sz="1800" b="1" kern="1200"/>
            <a:t>Content:</a:t>
          </a:r>
          <a:endParaRPr lang="en-US" sz="1800" kern="1200"/>
        </a:p>
      </dsp:txBody>
      <dsp:txXfrm>
        <a:off x="850" y="1495545"/>
        <a:ext cx="3445958" cy="2243317"/>
      </dsp:txXfrm>
    </dsp:sp>
    <dsp:sp modelId="{2800AFBA-9185-47D9-B9B3-98A6A9473E44}">
      <dsp:nvSpPr>
        <dsp:cNvPr id="0" name=""/>
        <dsp:cNvSpPr/>
      </dsp:nvSpPr>
      <dsp:spPr>
        <a:xfrm>
          <a:off x="850" y="0"/>
          <a:ext cx="3445958" cy="1495545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165100" rIns="34038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850" y="0"/>
        <a:ext cx="3445958" cy="1495545"/>
      </dsp:txXfrm>
    </dsp:sp>
    <dsp:sp modelId="{CD4575FA-92A0-4B2C-BF1C-0C1837BD004D}">
      <dsp:nvSpPr>
        <dsp:cNvPr id="0" name=""/>
        <dsp:cNvSpPr/>
      </dsp:nvSpPr>
      <dsp:spPr>
        <a:xfrm>
          <a:off x="3722485" y="0"/>
          <a:ext cx="3445958" cy="373886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0" rIns="340384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Problem: Predict the retail price of mobile phones using device specifications.</a:t>
          </a:r>
          <a:endParaRPr lang="en-US" sz="1800" kern="1200"/>
        </a:p>
      </dsp:txBody>
      <dsp:txXfrm>
        <a:off x="3722485" y="1495545"/>
        <a:ext cx="3445958" cy="2243317"/>
      </dsp:txXfrm>
    </dsp:sp>
    <dsp:sp modelId="{F6E84CC4-CA63-4E0B-A043-FF5D28126744}">
      <dsp:nvSpPr>
        <dsp:cNvPr id="0" name=""/>
        <dsp:cNvSpPr/>
      </dsp:nvSpPr>
      <dsp:spPr>
        <a:xfrm>
          <a:off x="3722485" y="0"/>
          <a:ext cx="3445958" cy="1495545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165100" rIns="34038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22485" y="0"/>
        <a:ext cx="3445958" cy="1495545"/>
      </dsp:txXfrm>
    </dsp:sp>
    <dsp:sp modelId="{18EB8340-0830-4DCE-B988-C5CFE629B954}">
      <dsp:nvSpPr>
        <dsp:cNvPr id="0" name=""/>
        <dsp:cNvSpPr/>
      </dsp:nvSpPr>
      <dsp:spPr>
        <a:xfrm>
          <a:off x="7444120" y="0"/>
          <a:ext cx="3445958" cy="373886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0" rIns="340384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Objective: Build an accurate regression model and identify the features that most strongly influence price to guide pricing and marketing decisions.</a:t>
          </a:r>
          <a:endParaRPr lang="en-US" sz="1800" kern="1200"/>
        </a:p>
      </dsp:txBody>
      <dsp:txXfrm>
        <a:off x="7444120" y="1495545"/>
        <a:ext cx="3445958" cy="2243317"/>
      </dsp:txXfrm>
    </dsp:sp>
    <dsp:sp modelId="{4A1E4AF2-3262-4363-AD8F-5841BE8933D4}">
      <dsp:nvSpPr>
        <dsp:cNvPr id="0" name=""/>
        <dsp:cNvSpPr/>
      </dsp:nvSpPr>
      <dsp:spPr>
        <a:xfrm>
          <a:off x="7444120" y="0"/>
          <a:ext cx="3445958" cy="1495545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0384" tIns="165100" rIns="34038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444120" y="0"/>
        <a:ext cx="3445958" cy="14955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9C552C-664E-4CAE-AD7C-7DC177853B0F}">
      <dsp:nvSpPr>
        <dsp:cNvPr id="0" name=""/>
        <dsp:cNvSpPr/>
      </dsp:nvSpPr>
      <dsp:spPr>
        <a:xfrm>
          <a:off x="782" y="927072"/>
          <a:ext cx="2748194" cy="17451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55F901-DDB7-4407-B025-59E4A56D0219}">
      <dsp:nvSpPr>
        <dsp:cNvPr id="0" name=""/>
        <dsp:cNvSpPr/>
      </dsp:nvSpPr>
      <dsp:spPr>
        <a:xfrm>
          <a:off x="306137" y="1217159"/>
          <a:ext cx="2748194" cy="17451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/>
            <a:t>Slide title:</a:t>
          </a:r>
          <a:r>
            <a:rPr lang="en-IN" sz="1400" kern="1200"/>
            <a:t> Data Overview</a:t>
          </a:r>
          <a:endParaRPr lang="en-US" sz="1400" kern="1200"/>
        </a:p>
      </dsp:txBody>
      <dsp:txXfrm>
        <a:off x="357249" y="1268271"/>
        <a:ext cx="2645970" cy="1642879"/>
      </dsp:txXfrm>
    </dsp:sp>
    <dsp:sp modelId="{D8286A82-3C41-41C3-8183-E4C2D58A4FB5}">
      <dsp:nvSpPr>
        <dsp:cNvPr id="0" name=""/>
        <dsp:cNvSpPr/>
      </dsp:nvSpPr>
      <dsp:spPr>
        <a:xfrm>
          <a:off x="3359686" y="927072"/>
          <a:ext cx="2748194" cy="17451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862DA7-9279-4827-A850-ECE6D734DAE4}">
      <dsp:nvSpPr>
        <dsp:cNvPr id="0" name=""/>
        <dsp:cNvSpPr/>
      </dsp:nvSpPr>
      <dsp:spPr>
        <a:xfrm>
          <a:off x="3665041" y="1217159"/>
          <a:ext cx="2748194" cy="17451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The dataset contains device-level records with fields such as: Model, Colour, Memory (GB), RAM (GB), Battery (mAh), Rear Camera, Front Camera, AI Lens flag, Mobile Height, Processor, and Price.</a:t>
          </a:r>
        </a:p>
      </dsp:txBody>
      <dsp:txXfrm>
        <a:off x="3716153" y="1268271"/>
        <a:ext cx="2645970" cy="16428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04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4884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F9504452-5DCC-4FE2-A5C9-8A5EF6714D65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895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018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113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241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96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956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11/18/2025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173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17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113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7DA38F49-B3E2-4BF0-BEC7-C30D34ABBB8D}" type="datetime1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27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6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A9A8D-F9F8-2362-881B-3FB7D15D6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4088" y="1267567"/>
            <a:ext cx="4308672" cy="3224045"/>
          </a:xfrm>
        </p:spPr>
        <p:txBody>
          <a:bodyPr anchor="b">
            <a:normAutofit/>
          </a:bodyPr>
          <a:lstStyle/>
          <a:p>
            <a:r>
              <a:rPr lang="en-IN" sz="5800" dirty="0">
                <a:latin typeface="Amasis MT Pro Black" panose="02040A04050005020304" pitchFamily="18" charset="0"/>
              </a:rPr>
              <a:t>Mobile Price </a:t>
            </a:r>
            <a:r>
              <a:rPr lang="en-IN" sz="5800" dirty="0" err="1">
                <a:latin typeface="Amasis MT Pro Black" panose="02040A04050005020304" pitchFamily="18" charset="0"/>
              </a:rPr>
              <a:t>Prediciton</a:t>
            </a:r>
            <a:endParaRPr lang="en-IN" sz="5800" dirty="0">
              <a:latin typeface="Amasis MT Pro Black" panose="02040A040500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22C0C-743B-1665-820C-5A7492B809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4088" y="4491612"/>
            <a:ext cx="4760340" cy="2019719"/>
          </a:xfrm>
        </p:spPr>
        <p:txBody>
          <a:bodyPr anchor="t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800" b="1" dirty="0">
                <a:latin typeface="Amasis MT Pro Black" panose="02040A04050005020304" pitchFamily="18" charset="0"/>
              </a:rPr>
              <a:t>Feature Extraction &amp; Price Prediction — Project Report</a:t>
            </a:r>
            <a:br>
              <a:rPr lang="en-US" sz="1800" b="1" dirty="0">
                <a:latin typeface="Amasis MT Pro Black" panose="02040A04050005020304" pitchFamily="18" charset="0"/>
              </a:rPr>
            </a:br>
            <a:r>
              <a:rPr lang="en-US" sz="1800" b="1" dirty="0">
                <a:latin typeface="Amasis MT Pro Black" panose="02040A04050005020304" pitchFamily="18" charset="0"/>
              </a:rPr>
              <a:t>Subtitle: End-to-end workflow: data cleaning → feature extraction → modeling → recommendations</a:t>
            </a:r>
            <a:br>
              <a:rPr lang="en-US" sz="1800" b="1" dirty="0">
                <a:latin typeface="Amasis MT Pro Black" panose="02040A04050005020304" pitchFamily="18" charset="0"/>
              </a:rPr>
            </a:br>
            <a:r>
              <a:rPr lang="en-US" sz="1800" b="1" dirty="0">
                <a:latin typeface="Amasis MT Pro Black" panose="02040A04050005020304" pitchFamily="18" charset="0"/>
              </a:rPr>
              <a:t>created by : Prashant Singh</a:t>
            </a:r>
            <a:br>
              <a:rPr lang="en-US" sz="1800" b="1" dirty="0">
                <a:latin typeface="Amasis MT Pro Black" panose="02040A04050005020304" pitchFamily="18" charset="0"/>
              </a:rPr>
            </a:br>
            <a:r>
              <a:rPr lang="en-US" sz="1800" b="1" dirty="0">
                <a:latin typeface="Amasis MT Pro Black" panose="02040A04050005020304" pitchFamily="18" charset="0"/>
              </a:rPr>
              <a:t>Date: 14.11.2025</a:t>
            </a:r>
            <a:endParaRPr lang="en-IN" sz="1800" b="1" dirty="0">
              <a:latin typeface="Amasis MT Pro Black" panose="02040A040500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8EB9CF-B95B-37A0-A293-019F12ADB7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91" r="8720"/>
          <a:stretch>
            <a:fillRect/>
          </a:stretch>
        </p:blipFill>
        <p:spPr>
          <a:xfrm>
            <a:off x="20" y="10"/>
            <a:ext cx="693113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07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D8743-469A-3A40-6B3A-C6D51D5B1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en-IN" sz="3600" dirty="0"/>
              <a:t>Slide 2 — Project outline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8EAFD1BF-A45A-F4C8-BA58-8AA4525344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1489610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1497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140A2-B2CE-E8E3-3E96-0220723E9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 fontScale="90000"/>
          </a:bodyPr>
          <a:lstStyle/>
          <a:p>
            <a:r>
              <a:rPr lang="en-IN" dirty="0"/>
              <a:t>Slide 3 — Problem statement &amp; objective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1994383-08CC-459A-E7E6-2C600026A2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3962597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2403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10FE8-70E9-5A8E-377B-4C018AE9C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3516" y="914400"/>
            <a:ext cx="6077493" cy="1097280"/>
          </a:xfrm>
        </p:spPr>
        <p:txBody>
          <a:bodyPr anchor="b">
            <a:noAutofit/>
          </a:bodyPr>
          <a:lstStyle/>
          <a:p>
            <a:r>
              <a:rPr lang="en-IN" dirty="0"/>
              <a:t>Slide 4 — Data overview</a:t>
            </a: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EE918752-91FE-B169-EC96-246690C355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1106378"/>
              </p:ext>
            </p:extLst>
          </p:nvPr>
        </p:nvGraphicFramePr>
        <p:xfrm>
          <a:off x="5453516" y="2185415"/>
          <a:ext cx="6414019" cy="38893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AA9A2C7-C527-DD6E-125D-21B8AC02E1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6587" y="914400"/>
            <a:ext cx="4734454" cy="21532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C87E3B-26F4-8DA3-4684-DFFFC59658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587" y="3589922"/>
            <a:ext cx="4734454" cy="2353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857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27EF0-BF11-7008-6831-57FEFC1FF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438520"/>
            <a:ext cx="10890929" cy="1097280"/>
          </a:xfrm>
        </p:spPr>
        <p:txBody>
          <a:bodyPr>
            <a:normAutofit fontScale="90000"/>
          </a:bodyPr>
          <a:lstStyle/>
          <a:p>
            <a:r>
              <a:rPr lang="en-US" dirty="0">
                <a:highlight>
                  <a:srgbClr val="C0C0C0"/>
                </a:highlight>
              </a:rPr>
              <a:t>Slide 5 — Data loading &amp; cleaning (what we did)</a:t>
            </a:r>
            <a:endParaRPr lang="en-IN" dirty="0">
              <a:highlight>
                <a:srgbClr val="C0C0C0"/>
              </a:highlight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5769F-3A0F-4241-6266-7724BCD00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39" y="1217627"/>
            <a:ext cx="10991482" cy="5222502"/>
          </a:xfrm>
        </p:spPr>
        <p:txBody>
          <a:bodyPr/>
          <a:lstStyle/>
          <a:p>
            <a:endParaRPr lang="en-IN" sz="2800" b="1" dirty="0"/>
          </a:p>
          <a:p>
            <a:endParaRPr lang="en-IN" sz="2800" b="1" dirty="0"/>
          </a:p>
          <a:p>
            <a:r>
              <a:rPr lang="en-IN" sz="2800" b="1" dirty="0"/>
              <a:t>Data Loading &amp; Cleaning :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15312BBD-8AD4-2170-BAE1-EF84D5EEF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439" y="3511530"/>
            <a:ext cx="10687665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Loaded data from Processed_Flipdata.xlsx.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Removed extraneous index/Unnamed columns and trimmed whitespace from text fields.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Converted textual numeric fields (e.g., "50MP") to numeric megapixel values.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Converted battery and memory/RAM to numeric types.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Renamed inconsistent column (Prize → Price) for clarity.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haroni" panose="02010803020104030203" pitchFamily="2" charset="-79"/>
                <a:cs typeface="Aharoni" panose="02010803020104030203" pitchFamily="2" charset="-79"/>
              </a:rPr>
              <a:t>Handled missing values: numeric columns imputed with median; categorical fields filled with Unknown.</a:t>
            </a:r>
          </a:p>
        </p:txBody>
      </p:sp>
    </p:spTree>
    <p:extLst>
      <p:ext uri="{BB962C8B-B14F-4D97-AF65-F5344CB8AC3E}">
        <p14:creationId xmlns:p14="http://schemas.microsoft.com/office/powerpoint/2010/main" val="3215941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484B2-4636-3848-6F95-313D7AF85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378543"/>
            <a:ext cx="10890929" cy="1097280"/>
          </a:xfrm>
        </p:spPr>
        <p:txBody>
          <a:bodyPr/>
          <a:lstStyle/>
          <a:p>
            <a:r>
              <a:rPr lang="en-US" dirty="0"/>
              <a:t>Slide 6 — Univariate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7BA8F-619A-ECEE-CEBE-73D7F355E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993" y="1247123"/>
            <a:ext cx="10890928" cy="5232327"/>
          </a:xfrm>
        </p:spPr>
        <p:txBody>
          <a:bodyPr/>
          <a:lstStyle/>
          <a:p>
            <a:r>
              <a:rPr lang="en-IN" sz="2400" dirty="0">
                <a:latin typeface="Aharoni" panose="02010803020104030203" pitchFamily="2" charset="-79"/>
                <a:cs typeface="Aharoni" panose="02010803020104030203" pitchFamily="2" charset="-79"/>
              </a:rPr>
              <a:t>Univariate Analysis — Key Distributions</a:t>
            </a:r>
          </a:p>
          <a:p>
            <a:r>
              <a:rPr lang="en-US" altLang="en-US" dirty="0">
                <a:latin typeface="Arial" panose="020B0604020202020204" pitchFamily="34" charset="0"/>
              </a:rPr>
              <a:t>Observations: price distribution is [skewed/normal — insert your observation]; identify any strong outliers.</a:t>
            </a:r>
          </a:p>
          <a:p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2DEDA1A-3CA6-5BD4-B355-9626CE274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993" y="2470268"/>
            <a:ext cx="1068543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Examined distributions and outliers for numeric features: Price, Battery, RAM, Memory,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Rear_MP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Front_MP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Mobile Height.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2136ED-494D-67F2-9ABB-4C934A16E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652" y="3116599"/>
            <a:ext cx="4993805" cy="3510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5B4EEB-DBC3-E5FE-00D9-73EF1BA04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458" y="3116599"/>
            <a:ext cx="4993805" cy="357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8110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C7908-6C08-11B9-66E8-99B50D3E3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91497"/>
            <a:ext cx="5752093" cy="10972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dirty="0"/>
              <a:t>Bivariate analysis (relationships)</a:t>
            </a:r>
            <a:endParaRPr lang="en-IN" sz="3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A4F79-A1A8-41D2-1DD8-9DB618158D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6205"/>
            <a:ext cx="5752095" cy="36617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/>
              <a:t>Bivariate Analysis — Price vs Features</a:t>
            </a:r>
          </a:p>
          <a:p>
            <a:pPr>
              <a:lnSpc>
                <a:spcPct val="110000"/>
              </a:lnSpc>
            </a:pPr>
            <a:r>
              <a:rPr lang="en-US"/>
              <a:t>Scatter plots to check simple relationships: Price vs Battery, Price vs RAM, Price vs Memory, Price vs Camera MP.</a:t>
            </a:r>
          </a:p>
          <a:p>
            <a:pPr>
              <a:lnSpc>
                <a:spcPct val="110000"/>
              </a:lnSpc>
            </a:pPr>
            <a:r>
              <a:rPr lang="en-US"/>
              <a:t>Boxplots to compare price by categorical flags (e.g., AI Lens presence).</a:t>
            </a:r>
            <a:endParaRPr lang="en-IN"/>
          </a:p>
          <a:p>
            <a:pPr>
              <a:lnSpc>
                <a:spcPct val="110000"/>
              </a:lnSpc>
            </a:pPr>
            <a:r>
              <a:rPr lang="en-US"/>
              <a:t>Observations: e.g., “Higher RAM and higher camera MP generally correlate with higher price.”</a:t>
            </a:r>
          </a:p>
          <a:p>
            <a:pPr>
              <a:lnSpc>
                <a:spcPct val="110000"/>
              </a:lnSpc>
            </a:pP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664A72-B701-99E8-2537-E79E7A1F53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7946" y="683289"/>
            <a:ext cx="4250586" cy="25974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671614A-0C66-FF46-5351-B4C1719E4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7945" y="3607283"/>
            <a:ext cx="4250586" cy="2690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345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19880-6327-8BD2-0C0B-CAC354EE5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1" y="746222"/>
            <a:ext cx="5752093" cy="1097280"/>
          </a:xfrm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IN" sz="4000" dirty="0"/>
              <a:t>Multivariate analysis (correlations &amp; pairwise)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F62D8-B575-8A0E-E0E7-D426F9400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713703"/>
            <a:ext cx="5752095" cy="4016834"/>
          </a:xfrm>
        </p:spPr>
        <p:txBody>
          <a:bodyPr>
            <a:normAutofit/>
          </a:bodyPr>
          <a:lstStyle/>
          <a:p>
            <a:r>
              <a:rPr lang="en-IN" dirty="0"/>
              <a:t>Multivariate Analysis — Correlations</a:t>
            </a:r>
          </a:p>
          <a:p>
            <a:r>
              <a:rPr lang="en-US" dirty="0"/>
              <a:t>Computed correlation matrix for numeric features to identify strongest linear relationships with Price.</a:t>
            </a:r>
          </a:p>
          <a:p>
            <a:r>
              <a:rPr lang="en-US" dirty="0"/>
              <a:t>Key correlated features (descending): Memory, </a:t>
            </a:r>
            <a:r>
              <a:rPr lang="en-US" dirty="0" err="1"/>
              <a:t>Front_MP</a:t>
            </a:r>
            <a:r>
              <a:rPr lang="en-US" dirty="0"/>
              <a:t>, RAM, </a:t>
            </a:r>
            <a:r>
              <a:rPr lang="en-US" dirty="0" err="1"/>
              <a:t>Rear_MP</a:t>
            </a:r>
            <a:r>
              <a:rPr lang="en-US" dirty="0"/>
              <a:t>, etc. (insert your top 3–6).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75A543-FFD6-286E-BD2F-811BC18BF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6774" y="452284"/>
            <a:ext cx="5142271" cy="33233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B982FA-5447-3CE8-CDFB-11E6B5832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6774" y="3607283"/>
            <a:ext cx="5142271" cy="325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310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88BB9-E521-F81A-AE9D-2EC3349C0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74" y="663096"/>
            <a:ext cx="10847494" cy="11710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Feature engineering (what we created)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D9FD83-5F63-C260-43B6-F6A2E8C6F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202071"/>
            <a:ext cx="6119647" cy="322647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CA14963F-2719-665C-6674-53E66A801B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5150" y="2256287"/>
            <a:ext cx="4563618" cy="376045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fontScale="92500"/>
          </a:bodyPr>
          <a:lstStyle/>
          <a:p>
            <a:pPr marL="0" marR="0" lvl="0" indent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Pct val="87000"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effectLst/>
              </a:rPr>
              <a:t>Total_Camera_MP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 =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effectLst/>
              </a:rPr>
              <a:t>Rear_MP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 +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effectLst/>
              </a:rPr>
              <a:t>Front_MP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 — captures combined camera capability.</a:t>
            </a:r>
          </a:p>
          <a:p>
            <a:pPr marL="0" marR="0" lvl="0" indent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Pct val="87000"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effectLst/>
              </a:rPr>
              <a:t>Rear_to_Front_Ratio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 =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effectLst/>
              </a:rPr>
              <a:t>Rear_MP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 /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effectLst/>
              </a:rPr>
              <a:t>Front_MP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 — camera emphasis indicator.</a:t>
            </a:r>
          </a:p>
          <a:p>
            <a:pPr marL="0" marR="0" lvl="0" indent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Pct val="87000"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effectLst/>
              </a:rPr>
              <a:t>Battery_per_RAM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 = </a:t>
            </a: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effectLst/>
              </a:rPr>
              <a:t>Battery_mAh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 / RAM — battery capacity per GB of RAM (proxy for endurance per performance).</a:t>
            </a:r>
          </a:p>
          <a:p>
            <a:pPr marL="0" marR="0" lvl="0" indent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Pct val="87000"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effectLst/>
              </a:rPr>
              <a:t>Model_freq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 = frequency encoding of Model (model popularity).</a:t>
            </a:r>
          </a:p>
          <a:p>
            <a:pPr marL="0" marR="0" lvl="0" indent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Pct val="87000"/>
              <a:buFont typeface="Arial" panose="020B0604020202020204" pitchFamily="34" charset="0"/>
              <a:buChar char="•"/>
              <a:tabLst/>
            </a:pPr>
            <a:r>
              <a:rPr kumimoji="0" lang="en-US" altLang="en-US" sz="1700" b="1" i="0" u="none" strike="noStrike" cap="none" normalizeH="0" baseline="0" dirty="0" err="1">
                <a:ln>
                  <a:noFill/>
                </a:ln>
                <a:effectLst/>
              </a:rPr>
              <a:t>Processor_brand</a:t>
            </a: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 = first token of processor text (e.g., Qualcomm, MediaTek).</a:t>
            </a:r>
          </a:p>
          <a:p>
            <a:pPr marL="0" marR="0" lvl="0" indent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Pct val="87000"/>
              <a:buFont typeface="Arial" panose="020B0604020202020204" pitchFamily="34" charset="0"/>
              <a:buChar char="•"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76602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7EAD3-C5A7-98C0-4639-FF41767B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232" y="648277"/>
            <a:ext cx="6909950" cy="147125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Feature encoding &amp; selection (brief)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2B8B02-37D3-1631-82EC-B6D7EC732B7E}"/>
              </a:ext>
            </a:extLst>
          </p:cNvPr>
          <p:cNvSpPr txBox="1"/>
          <p:nvPr/>
        </p:nvSpPr>
        <p:spPr>
          <a:xfrm>
            <a:off x="629480" y="2362408"/>
            <a:ext cx="4444938" cy="8430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  <a:buSzPct val="87000"/>
            </a:pPr>
            <a:r>
              <a:rPr lang="en-US" b="1" cap="all" spc="300" dirty="0"/>
              <a:t>Encoding &amp; Feature Selection</a:t>
            </a:r>
          </a:p>
        </p:txBody>
      </p:sp>
      <p:pic>
        <p:nvPicPr>
          <p:cNvPr id="10" name="Graphic 9" descr="Database">
            <a:extLst>
              <a:ext uri="{FF2B5EF4-FFF2-40B4-BE49-F238E27FC236}">
                <a16:creationId xmlns:a16="http://schemas.microsoft.com/office/drawing/2014/main" id="{C2FB5FA8-8F9C-3ECD-A6EF-D8C2EEC642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46916" y="899687"/>
            <a:ext cx="4873752" cy="48737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98E598-673C-10AF-F01D-576FFEA6DB3A}"/>
              </a:ext>
            </a:extLst>
          </p:cNvPr>
          <p:cNvSpPr txBox="1"/>
          <p:nvPr/>
        </p:nvSpPr>
        <p:spPr>
          <a:xfrm>
            <a:off x="571295" y="4032111"/>
            <a:ext cx="746366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2000" b="1" dirty="0"/>
              <a:t>Frequency-encoding used for Model to avoid high-dimensional one-hot for many </a:t>
            </a:r>
            <a:r>
              <a:rPr lang="en-US" sz="2000" b="1" dirty="0" err="1"/>
              <a:t>models.One</a:t>
            </a:r>
            <a:r>
              <a:rPr lang="en-US" sz="2000" b="1" dirty="0"/>
              <a:t>-hot encoding for </a:t>
            </a:r>
            <a:r>
              <a:rPr lang="en-US" sz="2000" b="1" dirty="0" err="1"/>
              <a:t>Processor_brand</a:t>
            </a:r>
            <a:r>
              <a:rPr lang="en-US" sz="2000" b="1" dirty="0"/>
              <a:t> and </a:t>
            </a:r>
            <a:r>
              <a:rPr lang="en-US" sz="2000" b="1" dirty="0" err="1"/>
              <a:t>Colour</a:t>
            </a:r>
            <a:r>
              <a:rPr lang="en-US" sz="2000" b="1" dirty="0"/>
              <a:t> limited to top categories; others grouped as </a:t>
            </a:r>
            <a:r>
              <a:rPr lang="en-US" sz="2000" b="1" dirty="0" err="1"/>
              <a:t>Other.Candidate</a:t>
            </a:r>
            <a:r>
              <a:rPr lang="en-US" sz="2000" b="1" dirty="0"/>
              <a:t> features selected for modeling: </a:t>
            </a:r>
            <a:r>
              <a:rPr lang="en-US" sz="2000" b="1" dirty="0" err="1"/>
              <a:t>Battery_mAh</a:t>
            </a:r>
            <a:r>
              <a:rPr lang="en-US" sz="2000" b="1" dirty="0"/>
              <a:t>, RAM, Memory, </a:t>
            </a:r>
            <a:r>
              <a:rPr lang="en-US" sz="2000" b="1" dirty="0" err="1"/>
              <a:t>Rear_MP</a:t>
            </a:r>
            <a:r>
              <a:rPr lang="en-US" sz="2000" b="1" dirty="0"/>
              <a:t>, </a:t>
            </a:r>
            <a:r>
              <a:rPr lang="en-US" sz="2000" b="1" dirty="0" err="1"/>
              <a:t>Front_MP</a:t>
            </a:r>
            <a:r>
              <a:rPr lang="en-US" sz="2000" b="1" dirty="0"/>
              <a:t>, </a:t>
            </a:r>
            <a:r>
              <a:rPr lang="en-US" sz="2000" b="1" dirty="0" err="1"/>
              <a:t>Total_Camera_MP</a:t>
            </a:r>
            <a:r>
              <a:rPr lang="en-US" sz="2000" b="1" dirty="0"/>
              <a:t>, </a:t>
            </a:r>
            <a:r>
              <a:rPr lang="en-US" sz="2000" b="1" dirty="0" err="1"/>
              <a:t>Rear_to_Front_Ratio</a:t>
            </a:r>
            <a:r>
              <a:rPr lang="en-US" sz="2000" b="1" dirty="0"/>
              <a:t>, </a:t>
            </a:r>
            <a:r>
              <a:rPr lang="en-US" sz="2000" b="1" dirty="0" err="1"/>
              <a:t>Battery_per_RAM</a:t>
            </a:r>
            <a:r>
              <a:rPr lang="en-US" sz="2000" b="1" dirty="0"/>
              <a:t>, </a:t>
            </a:r>
            <a:r>
              <a:rPr lang="en-US" sz="2000" b="1" dirty="0" err="1"/>
              <a:t>Model_freq</a:t>
            </a:r>
            <a:r>
              <a:rPr lang="en-US" sz="2000" b="1" dirty="0"/>
              <a:t> plus selected dummies.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484724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BB1B2-8CF1-0600-B818-52B67DEA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399"/>
            <a:ext cx="10847494" cy="11710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dirty="0"/>
              <a:t>Modeling approach</a:t>
            </a:r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CD611D78-EAA9-756D-E4C6-013F6FF938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232" y="2256287"/>
            <a:ext cx="3760459" cy="3760459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2BDF5AE-3DBD-48FF-114F-5997E5706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5150" y="2256287"/>
            <a:ext cx="4563618" cy="376045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 fontScale="92500"/>
          </a:bodyPr>
          <a:lstStyle/>
          <a:p>
            <a:pPr marL="0" marR="0" lvl="0" indent="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Pct val="87000"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Train/test split: 80% train / 20% test (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effectLst/>
              </a:rPr>
              <a:t>random_state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=42).</a:t>
            </a:r>
          </a:p>
          <a:p>
            <a:pPr marL="0" marR="0" lvl="0" indent="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Pct val="87000"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Models trained:</a:t>
            </a:r>
          </a:p>
          <a:p>
            <a:pPr marL="0" marR="0" lvl="0" indent="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Pct val="87000"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Linear Regression (baseline)</a:t>
            </a:r>
          </a:p>
          <a:p>
            <a:pPr marL="0" marR="0" lvl="0" indent="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Pct val="87000"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Random Forest Regressor (non-linear ensemble)</a:t>
            </a:r>
          </a:p>
          <a:p>
            <a:pPr marL="0" marR="0" lvl="0" indent="0" fontAlgn="base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Pct val="87000"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</a:rPr>
              <a:t>Evaluation metrics used: MAE, RMSE, R²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684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FCA73-928F-767D-58FA-99F324616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253" y="683343"/>
            <a:ext cx="10890929" cy="1097280"/>
          </a:xfrm>
        </p:spPr>
        <p:txBody>
          <a:bodyPr>
            <a:normAutofit/>
          </a:bodyPr>
          <a:lstStyle/>
          <a:p>
            <a:r>
              <a:rPr lang="en-IN" sz="6000" dirty="0"/>
              <a:t>Model evaluation (results)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6647BC-F532-5F02-B80B-EAFAAE80A569}"/>
              </a:ext>
            </a:extLst>
          </p:cNvPr>
          <p:cNvSpPr txBox="1"/>
          <p:nvPr/>
        </p:nvSpPr>
        <p:spPr>
          <a:xfrm>
            <a:off x="729818" y="1673631"/>
            <a:ext cx="79422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Model Evaluation — Results Summary</a:t>
            </a:r>
            <a:endParaRPr lang="en-IN" b="1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516ACB7-222D-F760-47AB-89732E13A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253" y="3130557"/>
            <a:ext cx="10480205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Linear Regression — MAE: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[value]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RMSE: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[value]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R²: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[value]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— MAE: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[value]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RMSE: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[value]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R²: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[value]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(best performing model).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Observations: Random Forest reduced error by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[x%]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vs baseline and achieved strong R² indicating good fit.</a:t>
            </a:r>
          </a:p>
        </p:txBody>
      </p:sp>
    </p:spTree>
    <p:extLst>
      <p:ext uri="{BB962C8B-B14F-4D97-AF65-F5344CB8AC3E}">
        <p14:creationId xmlns:p14="http://schemas.microsoft.com/office/powerpoint/2010/main" val="1419853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A3D0CE2-91FF-49B3-A5D8-181E900D7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8AEBD96-C315-4F53-9D9E-0E20E993E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8916AAA-66F6-4DFA-88ED-7E27CF6B8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137D43F-BAD6-47F1-AA65-AEEA38A2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512C9B2-6B22-4211-A940-FCD7C2CD0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85F7DB84-CDE7-46F8-90DD-9D048A7D5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E8035907-EB9C-4E11-8A9B-D25B0AD8D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87CBDA-4B85-33B3-4FF2-E7853043B943}"/>
              </a:ext>
            </a:extLst>
          </p:cNvPr>
          <p:cNvSpPr txBox="1"/>
          <p:nvPr/>
        </p:nvSpPr>
        <p:spPr>
          <a:xfrm>
            <a:off x="8177862" y="-111104"/>
            <a:ext cx="2942706" cy="2728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</a:pPr>
            <a:r>
              <a:rPr lang="en-US" sz="4000" dirty="0">
                <a:solidFill>
                  <a:schemeClr val="tx2"/>
                </a:solidFill>
              </a:rPr>
              <a:t>Feature Importance &amp; Insights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4CFDD4A-4FA1-4CD9-90D5-E253C2040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14818" y="720071"/>
            <a:ext cx="5417868" cy="5417858"/>
            <a:chOff x="1311770" y="720071"/>
            <a:chExt cx="5417868" cy="5417858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AB5B6FA-7B4F-437A-9C78-144C7DCD1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1770" y="720071"/>
              <a:ext cx="5417868" cy="5417858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A4199C21-6AE0-4F6F-AA96-6FFF97BB9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8390" y="1006688"/>
              <a:ext cx="4844628" cy="4844620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7DDB2E4-D8EA-0C0C-8D78-A53621F55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7507" y="1316890"/>
            <a:ext cx="4606394" cy="42242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0000"/>
              </a:lnSpc>
            </a:pPr>
            <a:r>
              <a:rPr lang="en-US" sz="6000" dirty="0">
                <a:solidFill>
                  <a:srgbClr val="FFFFFF"/>
                </a:solidFill>
              </a:rPr>
              <a:t>Feature importance &amp; interpretation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9C69FA7-0958-4ED9-A0DF-E87A0C137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5208" y="3388657"/>
            <a:ext cx="36576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38B4C93-3FF7-B1C9-5D18-B69392266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6796" y="2358938"/>
            <a:ext cx="4240404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Extracted feature importances from Random Forest and permutation importance for robustness.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predictors: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Front_MP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Battery_mAh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Total_Camera_MP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Battery_per_RAM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Memory, RAM.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Interpretation: camera specs and battery are strong price drivers — products with better camera and battery tend to command higher price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1364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A3D0CE2-91FF-49B3-A5D8-181E900D7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AEBD96-C315-4F53-9D9E-0E20E993E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8916AAA-66F6-4DFA-88ED-7E27CF6B8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137D43F-BAD6-47F1-AA65-AEEA38A2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512C9B2-6B22-4211-A940-FCD7C2CD0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85F7DB84-CDE7-46F8-90DD-9D048A7D5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3D25154-9EF7-4C33-9AAC-7B3BE089F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21958B-2BA1-483A-76D9-30D08EEA0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643468"/>
            <a:ext cx="9966960" cy="14164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9600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</a:rPr>
              <a:t>Recommendations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04E8C0-C927-4C06-A96A-BF3323BA7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0"/>
            <a:ext cx="12192000" cy="2295831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E6382F-1FD3-E8F6-3496-9C6AFBA3C2BE}"/>
              </a:ext>
            </a:extLst>
          </p:cNvPr>
          <p:cNvSpPr txBox="1"/>
          <p:nvPr/>
        </p:nvSpPr>
        <p:spPr>
          <a:xfrm>
            <a:off x="1048174" y="1970481"/>
            <a:ext cx="7891272" cy="10698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</a:pPr>
            <a:r>
              <a:rPr lang="en-US" sz="2800" dirty="0">
                <a:solidFill>
                  <a:srgbClr val="000000"/>
                </a:solidFill>
              </a:rPr>
              <a:t>Recommendations for Business / Product Team</a:t>
            </a:r>
            <a:endParaRPr lang="en-US" sz="2200" dirty="0">
              <a:solidFill>
                <a:srgbClr val="000000"/>
              </a:solidFill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DCECFD5-4C30-4892-9FF0-540E17955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45590" y="5111496"/>
            <a:ext cx="1080904" cy="1080902"/>
            <a:chOff x="10245590" y="5111496"/>
            <a:chExt cx="1080904" cy="1080902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5C67F70-EAFE-425C-8422-591620A96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5590" y="5111496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47FA16B-C217-4D91-84EA-5B0846BDD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53681" y="5219586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5" name="Rectangle 1">
            <a:extLst>
              <a:ext uri="{FF2B5EF4-FFF2-40B4-BE49-F238E27FC236}">
                <a16:creationId xmlns:a16="http://schemas.microsoft.com/office/drawing/2014/main" id="{3CAE32E4-84CC-7DDE-4E5A-B87B624BF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716" y="3049272"/>
            <a:ext cx="10820719" cy="14927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Light" panose="020F0502020204030204" pitchFamily="34" charset="0"/>
              </a:rPr>
              <a:t>Highlight Battery, Camera, and RAM heavily in product listings and marketing for higher-priced models.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Light" panose="020F0502020204030204" pitchFamily="34" charset="0"/>
              </a:rPr>
              <a:t>Use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Light" panose="020F0502020204030204" pitchFamily="34" charset="0"/>
              </a:rPr>
              <a:t>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 ExtraLight" panose="020F0502020204030204" pitchFamily="34" charset="0"/>
              </a:rPr>
              <a:t>Model_freq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Light" panose="020F0502020204030204" pitchFamily="34" charset="0"/>
              </a:rPr>
              <a:t> and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 ExtraLight" panose="020F0502020204030204" pitchFamily="34" charset="0"/>
              </a:rPr>
              <a:t>Processor_brand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Light" panose="020F0502020204030204" pitchFamily="34" charset="0"/>
              </a:rPr>
              <a:t> insights to guide inventory and promotional focus on popular/valuable models.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Light" panose="020F0502020204030204" pitchFamily="34" charset="0"/>
              </a:rPr>
              <a:t>Collect additional useful fields (screen type, refresh rate, warranty, brand reputation, launch date) to further improve model accuracy.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Light" panose="020F0502020204030204" pitchFamily="34" charset="0"/>
              </a:rPr>
              <a:t>Run hyperparameter tuning 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 ExtraLight" panose="020F0502020204030204" pitchFamily="34" charset="0"/>
              </a:rPr>
              <a:t>GridSearch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Light" panose="020F0502020204030204" pitchFamily="34" charset="0"/>
              </a:rPr>
              <a:t>/CV) and test advanced models (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 ExtraLight" panose="020F0502020204030204" pitchFamily="34" charset="0"/>
              </a:rPr>
              <a:t>XGBoost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Light" panose="020F0502020204030204" pitchFamily="34" charset="0"/>
              </a:rPr>
              <a:t>/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badi ExtraLight" panose="020F0502020204030204" pitchFamily="34" charset="0"/>
              </a:rPr>
              <a:t>LightGBM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badi ExtraLight" panose="020F0502020204030204" pitchFamily="34" charset="0"/>
              </a:rPr>
              <a:t>) to squeeze out better performance.</a:t>
            </a:r>
          </a:p>
        </p:txBody>
      </p:sp>
    </p:spTree>
    <p:extLst>
      <p:ext uri="{BB962C8B-B14F-4D97-AF65-F5344CB8AC3E}">
        <p14:creationId xmlns:p14="http://schemas.microsoft.com/office/powerpoint/2010/main" val="1353841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C1D9F-C422-020E-00F6-B2A178A2B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118026"/>
          </a:xfrm>
        </p:spPr>
        <p:txBody>
          <a:bodyPr>
            <a:normAutofit fontScale="90000"/>
          </a:bodyPr>
          <a:lstStyle/>
          <a:p>
            <a:r>
              <a:rPr lang="en-IN" sz="7200" b="1"/>
              <a:t>Limitations &amp; next steps</a:t>
            </a:r>
            <a:endParaRPr lang="en-IN" sz="7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C19D8E-749D-E2CD-C440-F7BC3F33EFFC}"/>
              </a:ext>
            </a:extLst>
          </p:cNvPr>
          <p:cNvSpPr txBox="1"/>
          <p:nvPr/>
        </p:nvSpPr>
        <p:spPr>
          <a:xfrm>
            <a:off x="1069848" y="177195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/>
              <a:t>Limitations &amp; Next Steps</a:t>
            </a:r>
            <a:endParaRPr lang="en-IN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962E6B-9069-6DC4-EEB8-9941004EDCC8}"/>
              </a:ext>
            </a:extLst>
          </p:cNvPr>
          <p:cNvSpPr txBox="1"/>
          <p:nvPr/>
        </p:nvSpPr>
        <p:spPr>
          <a:xfrm>
            <a:off x="1069847" y="2802645"/>
            <a:ext cx="1025691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Limitations: missing features (screen tech, brand trust), potential labeling inconsistency, unobserved market factors (discounts, region).</a:t>
            </a:r>
            <a:endParaRPr lang="en-IN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964BE4-F45F-11B6-DD99-8D9FC704E4D4}"/>
              </a:ext>
            </a:extLst>
          </p:cNvPr>
          <p:cNvSpPr txBox="1"/>
          <p:nvPr/>
        </p:nvSpPr>
        <p:spPr>
          <a:xfrm>
            <a:off x="1069848" y="4120167"/>
            <a:ext cx="102569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Next steps: hyperparameter tuning, cross-validation, external validation set, deploy model as an API for real-time pricing suggestions.</a:t>
            </a:r>
            <a:endParaRPr lang="en-IN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AAF6F9-9388-9B25-4026-E29803CE3D5C}"/>
              </a:ext>
            </a:extLst>
          </p:cNvPr>
          <p:cNvSpPr txBox="1"/>
          <p:nvPr/>
        </p:nvSpPr>
        <p:spPr>
          <a:xfrm>
            <a:off x="4117848" y="543768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highlight>
                  <a:srgbClr val="FFFF00"/>
                </a:highlight>
              </a:rPr>
              <a:t>Thank You</a:t>
            </a:r>
            <a:endParaRPr lang="en-IN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848702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204</TotalTime>
  <Words>985</Words>
  <Application>Microsoft Office PowerPoint</Application>
  <PresentationFormat>Widescreen</PresentationFormat>
  <Paragraphs>79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Abadi ExtraLight</vt:lpstr>
      <vt:lpstr>Aharoni</vt:lpstr>
      <vt:lpstr>Amasis MT Pro Black</vt:lpstr>
      <vt:lpstr>Arial</vt:lpstr>
      <vt:lpstr>Calibri</vt:lpstr>
      <vt:lpstr>Rockwell</vt:lpstr>
      <vt:lpstr>Rockwell Condensed</vt:lpstr>
      <vt:lpstr>Rockwell Extra Bold</vt:lpstr>
      <vt:lpstr>Wingdings</vt:lpstr>
      <vt:lpstr>Wood Type</vt:lpstr>
      <vt:lpstr>Mobile Price Prediciton</vt:lpstr>
      <vt:lpstr>Slide 2 — Project outline</vt:lpstr>
      <vt:lpstr>Slide 3 — Problem statement &amp; objective</vt:lpstr>
      <vt:lpstr>Slide 4 — Data overview</vt:lpstr>
      <vt:lpstr>Slide 5 — Data loading &amp; cleaning (what we did)</vt:lpstr>
      <vt:lpstr>Slide 6 — Univariate analysis</vt:lpstr>
      <vt:lpstr>Bivariate analysis (relationships)</vt:lpstr>
      <vt:lpstr>Multivariate analysis (correlations &amp; pairwise)</vt:lpstr>
      <vt:lpstr>Feature engineering (what we created)</vt:lpstr>
      <vt:lpstr>Feature encoding &amp; selection (brief)</vt:lpstr>
      <vt:lpstr>Modeling approach</vt:lpstr>
      <vt:lpstr>Model evaluation (results)</vt:lpstr>
      <vt:lpstr>Feature importance &amp; interpretation</vt:lpstr>
      <vt:lpstr>Recommendations</vt:lpstr>
      <vt:lpstr>Limitations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 Singh</dc:creator>
  <cp:lastModifiedBy>Prashant Singh</cp:lastModifiedBy>
  <cp:revision>2</cp:revision>
  <dcterms:created xsi:type="dcterms:W3CDTF">2025-11-18T11:12:56Z</dcterms:created>
  <dcterms:modified xsi:type="dcterms:W3CDTF">2025-11-18T20:16:53Z</dcterms:modified>
</cp:coreProperties>
</file>